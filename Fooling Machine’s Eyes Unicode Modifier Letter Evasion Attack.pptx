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  <p:embeddedFont>
      <p:font typeface="Consolas Bold" charset="1" panose="020B0709020204030204"/>
      <p:regular r:id="rId17"/>
    </p:embeddedFont>
    <p:embeddedFont>
      <p:font typeface="Consolas" charset="1" panose="020B0609020204030204"/>
      <p:regular r:id="rId18"/>
    </p:embeddedFont>
    <p:embeddedFont>
      <p:font typeface="Calibri (MS) Italics" charset="1" panose="020F05020202040A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01703" y="1450343"/>
            <a:ext cx="16484603" cy="7706363"/>
            <a:chOff x="0" y="0"/>
            <a:chExt cx="21979471" cy="10275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1E293B">
                <a:alpha val="48627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0258172"/>
                  </a:lnTo>
                  <a:cubicBezTo>
                    <a:pt x="21979382" y="10267569"/>
                    <a:pt x="21971763" y="10275062"/>
                    <a:pt x="21962490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21962490" y="10241280"/>
                  </a:lnTo>
                  <a:lnTo>
                    <a:pt x="21962490" y="10258172"/>
                  </a:lnTo>
                  <a:lnTo>
                    <a:pt x="21945600" y="10258172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50334" y="2274447"/>
            <a:ext cx="15361920" cy="2679725"/>
            <a:chOff x="0" y="0"/>
            <a:chExt cx="20482560" cy="3572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482561" cy="3572966"/>
            </a:xfrm>
            <a:custGeom>
              <a:avLst/>
              <a:gdLst/>
              <a:ahLst/>
              <a:cxnLst/>
              <a:rect r="r" b="b" t="t" l="l"/>
              <a:pathLst>
                <a:path h="357296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3572966"/>
                  </a:lnTo>
                  <a:lnTo>
                    <a:pt x="0" y="35729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02" r="0" b="-3899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20482560" cy="37253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Fooling Machine’s Eyes: </a:t>
              </a:r>
              <a:r>
                <a:rPr lang="en-US" sz="7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Unicode Modifier Letter Evasion Attack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50334" y="5388876"/>
            <a:ext cx="15361920" cy="1463040"/>
            <a:chOff x="0" y="0"/>
            <a:chExt cx="2048256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82561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52400"/>
              <a:ext cx="20482560" cy="210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120"/>
                </a:lnSpc>
              </a:pPr>
              <a:r>
                <a:rPr lang="en-US" sz="76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Evasion Attack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33214" y="6608936"/>
            <a:ext cx="15361920" cy="914400"/>
            <a:chOff x="0" y="0"/>
            <a:chExt cx="2048256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825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348" r="0" b="-27734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48256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Artifact Reproduction &amp; Analysis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20517" y="7732266"/>
            <a:ext cx="3683003" cy="720347"/>
            <a:chOff x="0" y="0"/>
            <a:chExt cx="4910671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4751324" y="0"/>
                  </a:lnTo>
                  <a:cubicBezTo>
                    <a:pt x="4820666" y="0"/>
                    <a:pt x="4876800" y="54610"/>
                    <a:pt x="4876800" y="121920"/>
                  </a:cubicBezTo>
                  <a:lnTo>
                    <a:pt x="4876800" y="804672"/>
                  </a:lnTo>
                  <a:cubicBezTo>
                    <a:pt x="4876800" y="871982"/>
                    <a:pt x="4820666" y="926592"/>
                    <a:pt x="4751324" y="926592"/>
                  </a:cubicBezTo>
                  <a:lnTo>
                    <a:pt x="125603" y="926592"/>
                  </a:lnTo>
                  <a:cubicBezTo>
                    <a:pt x="56261" y="926592"/>
                    <a:pt x="127" y="871982"/>
                    <a:pt x="127" y="804672"/>
                  </a:cubicBezTo>
                  <a:close/>
                </a:path>
              </a:pathLst>
            </a:custGeom>
            <a:solidFill>
              <a:srgbClr val="38BDF8">
                <a:alpha val="588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10709" cy="960374"/>
            </a:xfrm>
            <a:custGeom>
              <a:avLst/>
              <a:gdLst/>
              <a:ahLst/>
              <a:cxnLst/>
              <a:rect r="r" b="b" t="t" l="l"/>
              <a:pathLst>
                <a:path h="960374" w="491070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4768215" y="0"/>
                  </a:lnTo>
                  <a:lnTo>
                    <a:pt x="4768215" y="16891"/>
                  </a:lnTo>
                  <a:lnTo>
                    <a:pt x="4768215" y="0"/>
                  </a:lnTo>
                  <a:cubicBezTo>
                    <a:pt x="4846447" y="0"/>
                    <a:pt x="4910709" y="61722"/>
                    <a:pt x="4910709" y="138811"/>
                  </a:cubicBezTo>
                  <a:lnTo>
                    <a:pt x="4893818" y="138811"/>
                  </a:lnTo>
                  <a:lnTo>
                    <a:pt x="4910709" y="138811"/>
                  </a:lnTo>
                  <a:lnTo>
                    <a:pt x="4910709" y="821563"/>
                  </a:lnTo>
                  <a:lnTo>
                    <a:pt x="4893818" y="821563"/>
                  </a:lnTo>
                  <a:lnTo>
                    <a:pt x="4910709" y="821563"/>
                  </a:lnTo>
                  <a:cubicBezTo>
                    <a:pt x="4910709" y="898652"/>
                    <a:pt x="4846447" y="960374"/>
                    <a:pt x="4768215" y="960374"/>
                  </a:cubicBezTo>
                  <a:lnTo>
                    <a:pt x="4768215" y="943483"/>
                  </a:lnTo>
                  <a:lnTo>
                    <a:pt x="4768215" y="960374"/>
                  </a:lnTo>
                  <a:lnTo>
                    <a:pt x="142494" y="960374"/>
                  </a:lnTo>
                  <a:lnTo>
                    <a:pt x="142494" y="943483"/>
                  </a:lnTo>
                  <a:lnTo>
                    <a:pt x="142494" y="960374"/>
                  </a:lnTo>
                  <a:cubicBezTo>
                    <a:pt x="64262" y="960501"/>
                    <a:pt x="0" y="898779"/>
                    <a:pt x="0" y="82156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879094"/>
                    <a:pt x="82042" y="926592"/>
                    <a:pt x="142494" y="926592"/>
                  </a:cubicBezTo>
                  <a:lnTo>
                    <a:pt x="4768215" y="926592"/>
                  </a:lnTo>
                  <a:cubicBezTo>
                    <a:pt x="4828667" y="926592"/>
                    <a:pt x="4876800" y="879094"/>
                    <a:pt x="4876800" y="821563"/>
                  </a:cubicBezTo>
                  <a:lnTo>
                    <a:pt x="4876800" y="138811"/>
                  </a:lnTo>
                  <a:cubicBezTo>
                    <a:pt x="4876800" y="81280"/>
                    <a:pt x="4828667" y="33782"/>
                    <a:pt x="476821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33214" y="7744963"/>
            <a:ext cx="3657600" cy="694944"/>
            <a:chOff x="0" y="0"/>
            <a:chExt cx="48768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8BD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Research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60997" y="7732266"/>
            <a:ext cx="3683003" cy="720347"/>
            <a:chOff x="0" y="0"/>
            <a:chExt cx="4910671" cy="9604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4751324" y="0"/>
                  </a:lnTo>
                  <a:cubicBezTo>
                    <a:pt x="4820666" y="0"/>
                    <a:pt x="4876800" y="54610"/>
                    <a:pt x="4876800" y="121920"/>
                  </a:cubicBezTo>
                  <a:lnTo>
                    <a:pt x="4876800" y="804672"/>
                  </a:lnTo>
                  <a:cubicBezTo>
                    <a:pt x="4876800" y="871982"/>
                    <a:pt x="4820666" y="926592"/>
                    <a:pt x="4751324" y="926592"/>
                  </a:cubicBezTo>
                  <a:lnTo>
                    <a:pt x="125603" y="926592"/>
                  </a:lnTo>
                  <a:cubicBezTo>
                    <a:pt x="56261" y="926592"/>
                    <a:pt x="127" y="871982"/>
                    <a:pt x="127" y="804672"/>
                  </a:cubicBezTo>
                  <a:close/>
                </a:path>
              </a:pathLst>
            </a:custGeom>
            <a:solidFill>
              <a:srgbClr val="38BDF8">
                <a:alpha val="5882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0709" cy="960374"/>
            </a:xfrm>
            <a:custGeom>
              <a:avLst/>
              <a:gdLst/>
              <a:ahLst/>
              <a:cxnLst/>
              <a:rect r="r" b="b" t="t" l="l"/>
              <a:pathLst>
                <a:path h="960374" w="491070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4768215" y="0"/>
                  </a:lnTo>
                  <a:lnTo>
                    <a:pt x="4768215" y="16891"/>
                  </a:lnTo>
                  <a:lnTo>
                    <a:pt x="4768215" y="0"/>
                  </a:lnTo>
                  <a:cubicBezTo>
                    <a:pt x="4846447" y="0"/>
                    <a:pt x="4910709" y="61722"/>
                    <a:pt x="4910709" y="138811"/>
                  </a:cubicBezTo>
                  <a:lnTo>
                    <a:pt x="4893818" y="138811"/>
                  </a:lnTo>
                  <a:lnTo>
                    <a:pt x="4910709" y="138811"/>
                  </a:lnTo>
                  <a:lnTo>
                    <a:pt x="4910709" y="821563"/>
                  </a:lnTo>
                  <a:lnTo>
                    <a:pt x="4893818" y="821563"/>
                  </a:lnTo>
                  <a:lnTo>
                    <a:pt x="4910709" y="821563"/>
                  </a:lnTo>
                  <a:cubicBezTo>
                    <a:pt x="4910709" y="898652"/>
                    <a:pt x="4846447" y="960374"/>
                    <a:pt x="4768215" y="960374"/>
                  </a:cubicBezTo>
                  <a:lnTo>
                    <a:pt x="4768215" y="943483"/>
                  </a:lnTo>
                  <a:lnTo>
                    <a:pt x="4768215" y="960374"/>
                  </a:lnTo>
                  <a:lnTo>
                    <a:pt x="142494" y="960374"/>
                  </a:lnTo>
                  <a:lnTo>
                    <a:pt x="142494" y="943483"/>
                  </a:lnTo>
                  <a:lnTo>
                    <a:pt x="142494" y="960374"/>
                  </a:lnTo>
                  <a:cubicBezTo>
                    <a:pt x="64262" y="960501"/>
                    <a:pt x="0" y="898779"/>
                    <a:pt x="0" y="82156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879094"/>
                    <a:pt x="82042" y="926592"/>
                    <a:pt x="142494" y="926592"/>
                  </a:cubicBezTo>
                  <a:lnTo>
                    <a:pt x="4768215" y="926592"/>
                  </a:lnTo>
                  <a:cubicBezTo>
                    <a:pt x="4828667" y="926592"/>
                    <a:pt x="4876800" y="879094"/>
                    <a:pt x="4876800" y="821563"/>
                  </a:cubicBezTo>
                  <a:lnTo>
                    <a:pt x="4876800" y="138811"/>
                  </a:lnTo>
                  <a:cubicBezTo>
                    <a:pt x="4876800" y="81280"/>
                    <a:pt x="4828667" y="33782"/>
                    <a:pt x="476821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473694" y="7744963"/>
            <a:ext cx="3657600" cy="694944"/>
            <a:chOff x="0" y="0"/>
            <a:chExt cx="487680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8BD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Unicode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01477" y="7732266"/>
            <a:ext cx="3683003" cy="720347"/>
            <a:chOff x="0" y="0"/>
            <a:chExt cx="4910671" cy="9604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4751324" y="0"/>
                  </a:lnTo>
                  <a:cubicBezTo>
                    <a:pt x="4820666" y="0"/>
                    <a:pt x="4876800" y="54610"/>
                    <a:pt x="4876800" y="121920"/>
                  </a:cubicBezTo>
                  <a:lnTo>
                    <a:pt x="4876800" y="804672"/>
                  </a:lnTo>
                  <a:cubicBezTo>
                    <a:pt x="4876800" y="871982"/>
                    <a:pt x="4820666" y="926592"/>
                    <a:pt x="4751324" y="926592"/>
                  </a:cubicBezTo>
                  <a:lnTo>
                    <a:pt x="125603" y="926592"/>
                  </a:lnTo>
                  <a:cubicBezTo>
                    <a:pt x="56261" y="926592"/>
                    <a:pt x="127" y="871982"/>
                    <a:pt x="127" y="804672"/>
                  </a:cubicBezTo>
                  <a:close/>
                </a:path>
              </a:pathLst>
            </a:custGeom>
            <a:solidFill>
              <a:srgbClr val="38BDF8">
                <a:alpha val="5882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10709" cy="960374"/>
            </a:xfrm>
            <a:custGeom>
              <a:avLst/>
              <a:gdLst/>
              <a:ahLst/>
              <a:cxnLst/>
              <a:rect r="r" b="b" t="t" l="l"/>
              <a:pathLst>
                <a:path h="960374" w="491070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4768215" y="0"/>
                  </a:lnTo>
                  <a:lnTo>
                    <a:pt x="4768215" y="16891"/>
                  </a:lnTo>
                  <a:lnTo>
                    <a:pt x="4768215" y="0"/>
                  </a:lnTo>
                  <a:cubicBezTo>
                    <a:pt x="4846447" y="0"/>
                    <a:pt x="4910709" y="61722"/>
                    <a:pt x="4910709" y="138811"/>
                  </a:cubicBezTo>
                  <a:lnTo>
                    <a:pt x="4893818" y="138811"/>
                  </a:lnTo>
                  <a:lnTo>
                    <a:pt x="4910709" y="138811"/>
                  </a:lnTo>
                  <a:lnTo>
                    <a:pt x="4910709" y="821563"/>
                  </a:lnTo>
                  <a:lnTo>
                    <a:pt x="4893818" y="821563"/>
                  </a:lnTo>
                  <a:lnTo>
                    <a:pt x="4910709" y="821563"/>
                  </a:lnTo>
                  <a:cubicBezTo>
                    <a:pt x="4910709" y="898652"/>
                    <a:pt x="4846447" y="960374"/>
                    <a:pt x="4768215" y="960374"/>
                  </a:cubicBezTo>
                  <a:lnTo>
                    <a:pt x="4768215" y="943483"/>
                  </a:lnTo>
                  <a:lnTo>
                    <a:pt x="4768215" y="960374"/>
                  </a:lnTo>
                  <a:lnTo>
                    <a:pt x="142494" y="960374"/>
                  </a:lnTo>
                  <a:lnTo>
                    <a:pt x="142494" y="943483"/>
                  </a:lnTo>
                  <a:lnTo>
                    <a:pt x="142494" y="960374"/>
                  </a:lnTo>
                  <a:cubicBezTo>
                    <a:pt x="64262" y="960501"/>
                    <a:pt x="0" y="898779"/>
                    <a:pt x="0" y="82156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879094"/>
                    <a:pt x="82042" y="926592"/>
                    <a:pt x="142494" y="926592"/>
                  </a:cubicBezTo>
                  <a:lnTo>
                    <a:pt x="4768215" y="926592"/>
                  </a:lnTo>
                  <a:cubicBezTo>
                    <a:pt x="4828667" y="926592"/>
                    <a:pt x="4876800" y="879094"/>
                    <a:pt x="4876800" y="821563"/>
                  </a:cubicBezTo>
                  <a:lnTo>
                    <a:pt x="4876800" y="138811"/>
                  </a:lnTo>
                  <a:cubicBezTo>
                    <a:pt x="4876800" y="81280"/>
                    <a:pt x="4828667" y="33782"/>
                    <a:pt x="476821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14174" y="7744963"/>
            <a:ext cx="3657600" cy="694944"/>
            <a:chOff x="0" y="0"/>
            <a:chExt cx="487680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8BD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API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141957" y="7732266"/>
            <a:ext cx="3683003" cy="720347"/>
            <a:chOff x="0" y="0"/>
            <a:chExt cx="4910671" cy="9604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121920"/>
                  </a:moveTo>
                  <a:cubicBezTo>
                    <a:pt x="0" y="54610"/>
                    <a:pt x="56134" y="0"/>
                    <a:pt x="125476" y="0"/>
                  </a:cubicBezTo>
                  <a:lnTo>
                    <a:pt x="4751324" y="0"/>
                  </a:lnTo>
                  <a:cubicBezTo>
                    <a:pt x="4820666" y="0"/>
                    <a:pt x="4876800" y="54610"/>
                    <a:pt x="4876800" y="121920"/>
                  </a:cubicBezTo>
                  <a:lnTo>
                    <a:pt x="4876800" y="804672"/>
                  </a:lnTo>
                  <a:cubicBezTo>
                    <a:pt x="4876800" y="871982"/>
                    <a:pt x="4820666" y="926592"/>
                    <a:pt x="4751324" y="926592"/>
                  </a:cubicBezTo>
                  <a:lnTo>
                    <a:pt x="125603" y="926592"/>
                  </a:lnTo>
                  <a:cubicBezTo>
                    <a:pt x="56261" y="926592"/>
                    <a:pt x="127" y="871982"/>
                    <a:pt x="127" y="804672"/>
                  </a:cubicBezTo>
                  <a:close/>
                </a:path>
              </a:pathLst>
            </a:custGeom>
            <a:solidFill>
              <a:srgbClr val="38BDF8">
                <a:alpha val="5882"/>
              </a:srgbClr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10709" cy="960374"/>
            </a:xfrm>
            <a:custGeom>
              <a:avLst/>
              <a:gdLst/>
              <a:ahLst/>
              <a:cxnLst/>
              <a:rect r="r" b="b" t="t" l="l"/>
              <a:pathLst>
                <a:path h="960374" w="4910709">
                  <a:moveTo>
                    <a:pt x="0" y="138811"/>
                  </a:moveTo>
                  <a:cubicBezTo>
                    <a:pt x="0" y="61722"/>
                    <a:pt x="64262" y="0"/>
                    <a:pt x="142494" y="0"/>
                  </a:cubicBezTo>
                  <a:lnTo>
                    <a:pt x="4768215" y="0"/>
                  </a:lnTo>
                  <a:lnTo>
                    <a:pt x="4768215" y="16891"/>
                  </a:lnTo>
                  <a:lnTo>
                    <a:pt x="4768215" y="0"/>
                  </a:lnTo>
                  <a:cubicBezTo>
                    <a:pt x="4846447" y="0"/>
                    <a:pt x="4910709" y="61722"/>
                    <a:pt x="4910709" y="138811"/>
                  </a:cubicBezTo>
                  <a:lnTo>
                    <a:pt x="4893818" y="138811"/>
                  </a:lnTo>
                  <a:lnTo>
                    <a:pt x="4910709" y="138811"/>
                  </a:lnTo>
                  <a:lnTo>
                    <a:pt x="4910709" y="821563"/>
                  </a:lnTo>
                  <a:lnTo>
                    <a:pt x="4893818" y="821563"/>
                  </a:lnTo>
                  <a:lnTo>
                    <a:pt x="4910709" y="821563"/>
                  </a:lnTo>
                  <a:cubicBezTo>
                    <a:pt x="4910709" y="898652"/>
                    <a:pt x="4846447" y="960374"/>
                    <a:pt x="4768215" y="960374"/>
                  </a:cubicBezTo>
                  <a:lnTo>
                    <a:pt x="4768215" y="943483"/>
                  </a:lnTo>
                  <a:lnTo>
                    <a:pt x="4768215" y="960374"/>
                  </a:lnTo>
                  <a:lnTo>
                    <a:pt x="142494" y="960374"/>
                  </a:lnTo>
                  <a:lnTo>
                    <a:pt x="142494" y="943483"/>
                  </a:lnTo>
                  <a:lnTo>
                    <a:pt x="142494" y="960374"/>
                  </a:lnTo>
                  <a:cubicBezTo>
                    <a:pt x="64262" y="960501"/>
                    <a:pt x="0" y="898779"/>
                    <a:pt x="0" y="821563"/>
                  </a:cubicBezTo>
                  <a:lnTo>
                    <a:pt x="0" y="138811"/>
                  </a:lnTo>
                  <a:lnTo>
                    <a:pt x="16891" y="138811"/>
                  </a:lnTo>
                  <a:lnTo>
                    <a:pt x="0" y="138811"/>
                  </a:lnTo>
                  <a:moveTo>
                    <a:pt x="33909" y="138811"/>
                  </a:moveTo>
                  <a:lnTo>
                    <a:pt x="33909" y="821563"/>
                  </a:lnTo>
                  <a:lnTo>
                    <a:pt x="16891" y="821563"/>
                  </a:lnTo>
                  <a:lnTo>
                    <a:pt x="33909" y="821563"/>
                  </a:lnTo>
                  <a:cubicBezTo>
                    <a:pt x="33909" y="879094"/>
                    <a:pt x="82042" y="926592"/>
                    <a:pt x="142494" y="926592"/>
                  </a:cubicBezTo>
                  <a:lnTo>
                    <a:pt x="4768215" y="926592"/>
                  </a:lnTo>
                  <a:cubicBezTo>
                    <a:pt x="4828667" y="926592"/>
                    <a:pt x="4876800" y="879094"/>
                    <a:pt x="4876800" y="821563"/>
                  </a:cubicBezTo>
                  <a:lnTo>
                    <a:pt x="4876800" y="138811"/>
                  </a:lnTo>
                  <a:cubicBezTo>
                    <a:pt x="4876800" y="81280"/>
                    <a:pt x="4828667" y="33782"/>
                    <a:pt x="4768215" y="33782"/>
                  </a:cubicBezTo>
                  <a:lnTo>
                    <a:pt x="142494" y="33782"/>
                  </a:lnTo>
                  <a:lnTo>
                    <a:pt x="142494" y="16891"/>
                  </a:lnTo>
                  <a:lnTo>
                    <a:pt x="142494" y="33909"/>
                  </a:lnTo>
                  <a:cubicBezTo>
                    <a:pt x="82042" y="33909"/>
                    <a:pt x="33909" y="81407"/>
                    <a:pt x="33909" y="138938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154654" y="7744963"/>
            <a:ext cx="3657600" cy="694944"/>
            <a:chOff x="0" y="0"/>
            <a:chExt cx="487680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926592"/>
            </a:xfrm>
            <a:custGeom>
              <a:avLst/>
              <a:gdLst/>
              <a:ahLst/>
              <a:cxnLst/>
              <a:rect r="r" b="b" t="t" l="l"/>
              <a:pathLst>
                <a:path h="92659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552" r="0" b="-525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4876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38BDF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Reproducibility Study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-12697" y="10100567"/>
            <a:ext cx="18313403" cy="199139"/>
            <a:chOff x="0" y="0"/>
            <a:chExt cx="24417871" cy="26551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4383999" cy="231648"/>
            </a:xfrm>
            <a:custGeom>
              <a:avLst/>
              <a:gdLst/>
              <a:ahLst/>
              <a:cxnLst/>
              <a:rect r="r" b="b" t="t" l="l"/>
              <a:pathLst>
                <a:path h="231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417782" cy="265432"/>
            </a:xfrm>
            <a:custGeom>
              <a:avLst/>
              <a:gdLst/>
              <a:ahLst/>
              <a:cxnLst/>
              <a:rect r="r" b="b" t="t" l="l"/>
              <a:pathLst>
                <a:path h="26543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8539"/>
                  </a:lnTo>
                  <a:cubicBezTo>
                    <a:pt x="24417782" y="257937"/>
                    <a:pt x="24410163" y="265430"/>
                    <a:pt x="24400890" y="265430"/>
                  </a:cubicBezTo>
                  <a:lnTo>
                    <a:pt x="16891" y="265430"/>
                  </a:lnTo>
                  <a:cubicBezTo>
                    <a:pt x="7620" y="265557"/>
                    <a:pt x="0" y="257937"/>
                    <a:pt x="0" y="248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8539"/>
                  </a:lnTo>
                  <a:lnTo>
                    <a:pt x="16891" y="248539"/>
                  </a:lnTo>
                  <a:lnTo>
                    <a:pt x="16891" y="231648"/>
                  </a:lnTo>
                  <a:lnTo>
                    <a:pt x="24400890" y="231648"/>
                  </a:lnTo>
                  <a:lnTo>
                    <a:pt x="24400890" y="248539"/>
                  </a:lnTo>
                  <a:lnTo>
                    <a:pt x="24384000" y="248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50334" y="4906547"/>
            <a:ext cx="153619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B4B4B4"/>
                </a:solidFill>
                <a:latin typeface="Calibri (MS)"/>
                <a:ea typeface="Calibri (MS)"/>
                <a:cs typeface="Calibri (MS)"/>
                <a:sym typeface="Calibri (MS)"/>
              </a:rPr>
              <a:t>Cha</a:t>
            </a:r>
            <a:r>
              <a:rPr lang="en-US" sz="2199">
                <a:solidFill>
                  <a:srgbClr val="B4B4B4"/>
                </a:solidFill>
                <a:latin typeface="Calibri (MS)"/>
                <a:ea typeface="Calibri (MS)"/>
                <a:cs typeface="Calibri (MS)"/>
                <a:sym typeface="Calibri (MS)"/>
              </a:rPr>
              <a:t>o Gao, Guanglu Sun* , Xin Liu, and Feiyan Liu Harbin University of Science and Technology, China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166717" y="1922022"/>
            <a:ext cx="795456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>
                <a:solidFill>
                  <a:srgbClr val="0CC0D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2025 Annual C</a:t>
            </a:r>
            <a:r>
              <a:rPr lang="en-US" b="true" sz="2299">
                <a:solidFill>
                  <a:srgbClr val="0CC0D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omputer Security Applications Conference (ACSAC)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1998983"/>
            <a:ext cx="8255003" cy="2128523"/>
            <a:chOff x="0" y="0"/>
            <a:chExt cx="11006671" cy="28380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097280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06582" cy="2837942"/>
            </a:xfrm>
            <a:custGeom>
              <a:avLst/>
              <a:gdLst/>
              <a:ahLst/>
              <a:cxnLst/>
              <a:rect r="r" b="b" t="t" l="l"/>
              <a:pathLst>
                <a:path h="2837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821051"/>
                  </a:lnTo>
                  <a:cubicBezTo>
                    <a:pt x="11006582" y="2830449"/>
                    <a:pt x="10998962" y="2837942"/>
                    <a:pt x="1098969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989691" y="2804160"/>
                  </a:lnTo>
                  <a:lnTo>
                    <a:pt x="10989691" y="2821051"/>
                  </a:lnTo>
                  <a:lnTo>
                    <a:pt x="10972800" y="2821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8823" y="1998983"/>
            <a:ext cx="153419" cy="2128523"/>
            <a:chOff x="0" y="0"/>
            <a:chExt cx="204559" cy="28380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470" cy="2837942"/>
            </a:xfrm>
            <a:custGeom>
              <a:avLst/>
              <a:gdLst/>
              <a:ahLst/>
              <a:cxnLst/>
              <a:rect r="r" b="b" t="t" l="l"/>
              <a:pathLst>
                <a:path h="28379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5840" y="2194560"/>
            <a:ext cx="1005840" cy="822960"/>
            <a:chOff x="0" y="0"/>
            <a:chExt cx="13411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5840" y="2194560"/>
            <a:ext cx="7680960" cy="768096"/>
            <a:chOff x="0" y="0"/>
            <a:chExt cx="1024128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Paper Background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5840" y="3108960"/>
            <a:ext cx="7680960" cy="768096"/>
            <a:chOff x="0" y="0"/>
            <a:chExt cx="1024128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the original research investigated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4467863"/>
            <a:ext cx="8255003" cy="2128523"/>
            <a:chOff x="0" y="0"/>
            <a:chExt cx="11006671" cy="28380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97280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006582" cy="2837942"/>
            </a:xfrm>
            <a:custGeom>
              <a:avLst/>
              <a:gdLst/>
              <a:ahLst/>
              <a:cxnLst/>
              <a:rect r="r" b="b" t="t" l="l"/>
              <a:pathLst>
                <a:path h="2837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821051"/>
                  </a:lnTo>
                  <a:cubicBezTo>
                    <a:pt x="11006582" y="2830449"/>
                    <a:pt x="10998962" y="2837942"/>
                    <a:pt x="1098969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989691" y="2804160"/>
                  </a:lnTo>
                  <a:lnTo>
                    <a:pt x="10989691" y="2821051"/>
                  </a:lnTo>
                  <a:lnTo>
                    <a:pt x="10972800" y="2821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18823" y="4467863"/>
            <a:ext cx="153419" cy="2128523"/>
            <a:chOff x="0" y="0"/>
            <a:chExt cx="204559" cy="28380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470" cy="2837942"/>
            </a:xfrm>
            <a:custGeom>
              <a:avLst/>
              <a:gdLst/>
              <a:ahLst/>
              <a:cxnLst/>
              <a:rect r="r" b="b" t="t" l="l"/>
              <a:pathLst>
                <a:path h="28379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05840" y="4663440"/>
            <a:ext cx="1005840" cy="822960"/>
            <a:chOff x="0" y="0"/>
            <a:chExt cx="134112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4663440"/>
            <a:ext cx="7680960" cy="768096"/>
            <a:chOff x="0" y="0"/>
            <a:chExt cx="10241280" cy="10241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 Mechanism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5840" y="5577840"/>
            <a:ext cx="7680960" cy="768096"/>
            <a:chOff x="0" y="0"/>
            <a:chExt cx="10241280" cy="10241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Unicode modifier letters evade detection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6936743"/>
            <a:ext cx="8255003" cy="2128523"/>
            <a:chOff x="0" y="0"/>
            <a:chExt cx="11006671" cy="28380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97280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006582" cy="2837942"/>
            </a:xfrm>
            <a:custGeom>
              <a:avLst/>
              <a:gdLst/>
              <a:ahLst/>
              <a:cxnLst/>
              <a:rect r="r" b="b" t="t" l="l"/>
              <a:pathLst>
                <a:path h="2837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821051"/>
                  </a:lnTo>
                  <a:cubicBezTo>
                    <a:pt x="11006582" y="2830449"/>
                    <a:pt x="10998962" y="2837942"/>
                    <a:pt x="1098969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989691" y="2804160"/>
                  </a:lnTo>
                  <a:lnTo>
                    <a:pt x="10989691" y="2821051"/>
                  </a:lnTo>
                  <a:lnTo>
                    <a:pt x="10972800" y="2821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8823" y="6936743"/>
            <a:ext cx="153419" cy="2128523"/>
            <a:chOff x="0" y="0"/>
            <a:chExt cx="204559" cy="28380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2837942"/>
            </a:xfrm>
            <a:custGeom>
              <a:avLst/>
              <a:gdLst/>
              <a:ahLst/>
              <a:cxnLst/>
              <a:rect r="r" b="b" t="t" l="l"/>
              <a:pathLst>
                <a:path h="28379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05840" y="7132320"/>
            <a:ext cx="1005840" cy="822960"/>
            <a:chOff x="0" y="0"/>
            <a:chExt cx="134112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5840" y="7132320"/>
            <a:ext cx="7680960" cy="768096"/>
            <a:chOff x="0" y="0"/>
            <a:chExt cx="10241280" cy="10241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 &amp; Artifact Setup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05840" y="8046720"/>
            <a:ext cx="7680960" cy="768096"/>
            <a:chOff x="0" y="0"/>
            <a:chExt cx="1024128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analyzer.exe, checker.exe, structure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97063" y="1998983"/>
            <a:ext cx="8255003" cy="2128523"/>
            <a:chOff x="0" y="0"/>
            <a:chExt cx="11006671" cy="28380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97280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582" cy="2837942"/>
            </a:xfrm>
            <a:custGeom>
              <a:avLst/>
              <a:gdLst/>
              <a:ahLst/>
              <a:cxnLst/>
              <a:rect r="r" b="b" t="t" l="l"/>
              <a:pathLst>
                <a:path h="2837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821051"/>
                  </a:lnTo>
                  <a:cubicBezTo>
                    <a:pt x="11006582" y="2830449"/>
                    <a:pt x="10998962" y="2837942"/>
                    <a:pt x="1098969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989691" y="2804160"/>
                  </a:lnTo>
                  <a:lnTo>
                    <a:pt x="10989691" y="2821051"/>
                  </a:lnTo>
                  <a:lnTo>
                    <a:pt x="10972800" y="2821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97063" y="1998983"/>
            <a:ext cx="153419" cy="2128523"/>
            <a:chOff x="0" y="0"/>
            <a:chExt cx="204559" cy="283803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4470" cy="2837942"/>
            </a:xfrm>
            <a:custGeom>
              <a:avLst/>
              <a:gdLst/>
              <a:ahLst/>
              <a:cxnLst/>
              <a:rect r="r" b="b" t="t" l="l"/>
              <a:pathLst>
                <a:path h="28379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84080" y="2194560"/>
            <a:ext cx="1005840" cy="822960"/>
            <a:chOff x="0" y="0"/>
            <a:chExt cx="134112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84080" y="2194560"/>
            <a:ext cx="7680960" cy="768096"/>
            <a:chOff x="0" y="0"/>
            <a:chExt cx="10241280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Experiments Run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84080" y="3108960"/>
            <a:ext cx="7680960" cy="768096"/>
            <a:chOff x="0" y="0"/>
            <a:chExt cx="1024128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was executed and what output was generated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497063" y="4467863"/>
            <a:ext cx="8255003" cy="2128523"/>
            <a:chOff x="0" y="0"/>
            <a:chExt cx="11006671" cy="283803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097280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006582" cy="2837942"/>
            </a:xfrm>
            <a:custGeom>
              <a:avLst/>
              <a:gdLst/>
              <a:ahLst/>
              <a:cxnLst/>
              <a:rect r="r" b="b" t="t" l="l"/>
              <a:pathLst>
                <a:path h="2837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821051"/>
                  </a:lnTo>
                  <a:cubicBezTo>
                    <a:pt x="11006582" y="2830449"/>
                    <a:pt x="10998962" y="2837942"/>
                    <a:pt x="1098969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989691" y="2804160"/>
                  </a:lnTo>
                  <a:lnTo>
                    <a:pt x="10989691" y="2821051"/>
                  </a:lnTo>
                  <a:lnTo>
                    <a:pt x="10972800" y="2821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497063" y="4467863"/>
            <a:ext cx="153419" cy="2128523"/>
            <a:chOff x="0" y="0"/>
            <a:chExt cx="204559" cy="283803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470" cy="2837942"/>
            </a:xfrm>
            <a:custGeom>
              <a:avLst/>
              <a:gdLst/>
              <a:ahLst/>
              <a:cxnLst/>
              <a:rect r="r" b="b" t="t" l="l"/>
              <a:pathLst>
                <a:path h="28379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784080" y="4663440"/>
            <a:ext cx="1005840" cy="822960"/>
            <a:chOff x="0" y="0"/>
            <a:chExt cx="134112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84080" y="4663440"/>
            <a:ext cx="7680960" cy="768096"/>
            <a:chOff x="0" y="0"/>
            <a:chExt cx="10241280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Verification Results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84080" y="5577840"/>
            <a:ext cx="7680960" cy="768096"/>
            <a:chOff x="0" y="0"/>
            <a:chExt cx="1024128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Comparing generated vs expected reports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97063" y="6936743"/>
            <a:ext cx="8255003" cy="2128523"/>
            <a:chOff x="0" y="0"/>
            <a:chExt cx="11006671" cy="283803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0972800" cy="2804160"/>
            </a:xfrm>
            <a:custGeom>
              <a:avLst/>
              <a:gdLst/>
              <a:ahLst/>
              <a:cxnLst/>
              <a:rect r="r" b="b" t="t" l="l"/>
              <a:pathLst>
                <a:path h="28041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006582" cy="2837942"/>
            </a:xfrm>
            <a:custGeom>
              <a:avLst/>
              <a:gdLst/>
              <a:ahLst/>
              <a:cxnLst/>
              <a:rect r="r" b="b" t="t" l="l"/>
              <a:pathLst>
                <a:path h="283794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821051"/>
                  </a:lnTo>
                  <a:cubicBezTo>
                    <a:pt x="11006582" y="2830449"/>
                    <a:pt x="10998962" y="2837942"/>
                    <a:pt x="10989691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0989691" y="2804160"/>
                  </a:lnTo>
                  <a:lnTo>
                    <a:pt x="10989691" y="2821051"/>
                  </a:lnTo>
                  <a:lnTo>
                    <a:pt x="10972800" y="28210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497063" y="6936743"/>
            <a:ext cx="153419" cy="2128523"/>
            <a:chOff x="0" y="0"/>
            <a:chExt cx="204559" cy="28380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170688" cy="2804160"/>
            </a:xfrm>
            <a:custGeom>
              <a:avLst/>
              <a:gdLst/>
              <a:ahLst/>
              <a:cxnLst/>
              <a:rect r="r" b="b" t="t" l="l"/>
              <a:pathLst>
                <a:path h="28041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4470" cy="2837942"/>
            </a:xfrm>
            <a:custGeom>
              <a:avLst/>
              <a:gdLst/>
              <a:ahLst/>
              <a:cxnLst/>
              <a:rect r="r" b="b" t="t" l="l"/>
              <a:pathLst>
                <a:path h="28379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821051"/>
                  </a:lnTo>
                  <a:cubicBezTo>
                    <a:pt x="204470" y="2830449"/>
                    <a:pt x="196850" y="2837942"/>
                    <a:pt x="187579" y="2837942"/>
                  </a:cubicBezTo>
                  <a:lnTo>
                    <a:pt x="16891" y="2837942"/>
                  </a:lnTo>
                  <a:cubicBezTo>
                    <a:pt x="7493" y="2837942"/>
                    <a:pt x="0" y="2830322"/>
                    <a:pt x="0" y="28210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821051"/>
                  </a:lnTo>
                  <a:lnTo>
                    <a:pt x="16891" y="2821051"/>
                  </a:lnTo>
                  <a:lnTo>
                    <a:pt x="16891" y="2804160"/>
                  </a:lnTo>
                  <a:lnTo>
                    <a:pt x="187579" y="2804160"/>
                  </a:lnTo>
                  <a:lnTo>
                    <a:pt x="187579" y="2821051"/>
                  </a:lnTo>
                  <a:lnTo>
                    <a:pt x="170688" y="28210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84080" y="7132320"/>
            <a:ext cx="1005840" cy="822960"/>
            <a:chOff x="0" y="0"/>
            <a:chExt cx="1341120" cy="1097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34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4975" t="0" r="-54975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76200"/>
              <a:ext cx="134112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784080" y="7132320"/>
            <a:ext cx="7680960" cy="768096"/>
            <a:chOff x="0" y="0"/>
            <a:chExt cx="10241280" cy="102412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784080" y="8046720"/>
            <a:ext cx="7680960" cy="768096"/>
            <a:chOff x="0" y="0"/>
            <a:chExt cx="10241280" cy="10241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1024128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was reproduced and remaining work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|  Paper Background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541783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1945599" cy="97536"/>
            </a:xfrm>
            <a:custGeom>
              <a:avLst/>
              <a:gdLst/>
              <a:ahLst/>
              <a:cxnLst/>
              <a:rect r="r" b="b" t="t" l="l"/>
              <a:pathLst>
                <a:path h="97536" w="21945599">
                  <a:moveTo>
                    <a:pt x="0" y="0"/>
                  </a:moveTo>
                  <a:lnTo>
                    <a:pt x="21945599" y="0"/>
                  </a:lnTo>
                  <a:lnTo>
                    <a:pt x="219455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79382" cy="131320"/>
            </a:xfrm>
            <a:custGeom>
              <a:avLst/>
              <a:gdLst/>
              <a:ahLst/>
              <a:cxnLst/>
              <a:rect r="r" b="b" t="t" l="l"/>
              <a:pathLst>
                <a:path h="131320" w="21979382">
                  <a:moveTo>
                    <a:pt x="16891" y="0"/>
                  </a:moveTo>
                  <a:lnTo>
                    <a:pt x="21962490" y="0"/>
                  </a:lnTo>
                  <a:cubicBezTo>
                    <a:pt x="21971890" y="0"/>
                    <a:pt x="21979382" y="7620"/>
                    <a:pt x="21979382" y="16891"/>
                  </a:cubicBezTo>
                  <a:lnTo>
                    <a:pt x="21979382" y="114427"/>
                  </a:lnTo>
                  <a:cubicBezTo>
                    <a:pt x="21979382" y="123825"/>
                    <a:pt x="21971763" y="131318"/>
                    <a:pt x="219624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1962490" y="97536"/>
                  </a:lnTo>
                  <a:lnTo>
                    <a:pt x="21962490" y="114427"/>
                  </a:lnTo>
                  <a:lnTo>
                    <a:pt x="21945600" y="114427"/>
                  </a:lnTo>
                  <a:lnTo>
                    <a:pt x="21945600" y="16891"/>
                  </a:lnTo>
                  <a:lnTo>
                    <a:pt x="21962490" y="16891"/>
                  </a:lnTo>
                  <a:lnTo>
                    <a:pt x="219624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8823" y="1907543"/>
            <a:ext cx="8255003" cy="7706363"/>
            <a:chOff x="0" y="0"/>
            <a:chExt cx="11006671" cy="102751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97280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0658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258172"/>
                  </a:lnTo>
                  <a:cubicBezTo>
                    <a:pt x="11006582" y="10267569"/>
                    <a:pt x="10998962" y="10275062"/>
                    <a:pt x="1098969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0989691" y="10241280"/>
                  </a:lnTo>
                  <a:lnTo>
                    <a:pt x="10989691" y="10258172"/>
                  </a:lnTo>
                  <a:lnTo>
                    <a:pt x="10972800" y="102581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8823" y="1907543"/>
            <a:ext cx="153419" cy="7706363"/>
            <a:chOff x="0" y="0"/>
            <a:chExt cx="204559" cy="10275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0688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0258172"/>
                  </a:lnTo>
                  <a:cubicBezTo>
                    <a:pt x="204470" y="10267569"/>
                    <a:pt x="196850" y="10275062"/>
                    <a:pt x="187579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87579" y="10241280"/>
                  </a:lnTo>
                  <a:lnTo>
                    <a:pt x="187579" y="10258172"/>
                  </a:lnTo>
                  <a:lnTo>
                    <a:pt x="170688" y="102581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103120"/>
            <a:ext cx="7498080" cy="822960"/>
            <a:chOff x="0" y="0"/>
            <a:chExt cx="99974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Paper Studies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6023" y="3132839"/>
            <a:ext cx="354587" cy="354587"/>
            <a:chOff x="0" y="0"/>
            <a:chExt cx="472783" cy="4727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37360" y="3017520"/>
            <a:ext cx="6949440" cy="1005840"/>
            <a:chOff x="0" y="0"/>
            <a:chExt cx="92659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Unicode "modifier letters" look visually identical to normal ASCII letters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6023" y="4449575"/>
            <a:ext cx="354587" cy="354587"/>
            <a:chOff x="0" y="0"/>
            <a:chExt cx="472783" cy="4727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37360" y="4334256"/>
            <a:ext cx="6949440" cy="1005840"/>
            <a:chOff x="0" y="0"/>
            <a:chExt cx="926592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APIs like CompareStringW() treat them as equivalent — enabling bypass attacks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76023" y="5766311"/>
            <a:ext cx="354587" cy="354587"/>
            <a:chOff x="0" y="0"/>
            <a:chExt cx="472783" cy="4727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37360" y="5650992"/>
            <a:ext cx="6949440" cy="1005840"/>
            <a:chOff x="0" y="0"/>
            <a:chExt cx="92659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Malware can rename itself using modifier chars to evade string-based detection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76023" y="7083047"/>
            <a:ext cx="354587" cy="354587"/>
            <a:chOff x="0" y="0"/>
            <a:chExt cx="472783" cy="4727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37360" y="6967728"/>
            <a:ext cx="6949440" cy="1005840"/>
            <a:chOff x="0" y="0"/>
            <a:chExt cx="926592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IdnToAscii() normalizes domains — attackers can exploit this in URL validation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97063" y="1907543"/>
            <a:ext cx="8255003" cy="7706363"/>
            <a:chOff x="0" y="0"/>
            <a:chExt cx="11006671" cy="1027515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0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06582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0258172"/>
                  </a:lnTo>
                  <a:cubicBezTo>
                    <a:pt x="11006582" y="10267569"/>
                    <a:pt x="10998962" y="10275062"/>
                    <a:pt x="10989691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0989691" y="10241280"/>
                  </a:lnTo>
                  <a:lnTo>
                    <a:pt x="10989691" y="10258172"/>
                  </a:lnTo>
                  <a:lnTo>
                    <a:pt x="10972800" y="10258172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497063" y="1907543"/>
            <a:ext cx="153419" cy="7706363"/>
            <a:chOff x="0" y="0"/>
            <a:chExt cx="204559" cy="10275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70688" cy="10241281"/>
            </a:xfrm>
            <a:custGeom>
              <a:avLst/>
              <a:gdLst/>
              <a:ahLst/>
              <a:cxnLst/>
              <a:rect r="r" b="b" t="t" l="l"/>
              <a:pathLst>
                <a:path h="10241281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0241281"/>
                  </a:lnTo>
                  <a:lnTo>
                    <a:pt x="0" y="10241281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4470" cy="10275062"/>
            </a:xfrm>
            <a:custGeom>
              <a:avLst/>
              <a:gdLst/>
              <a:ahLst/>
              <a:cxnLst/>
              <a:rect r="r" b="b" t="t" l="l"/>
              <a:pathLst>
                <a:path h="102750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0258172"/>
                  </a:lnTo>
                  <a:cubicBezTo>
                    <a:pt x="204470" y="10267569"/>
                    <a:pt x="196850" y="10275062"/>
                    <a:pt x="187579" y="10275062"/>
                  </a:cubicBezTo>
                  <a:lnTo>
                    <a:pt x="16891" y="10275062"/>
                  </a:lnTo>
                  <a:cubicBezTo>
                    <a:pt x="7493" y="10275062"/>
                    <a:pt x="0" y="10267442"/>
                    <a:pt x="0" y="1025817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58172"/>
                  </a:lnTo>
                  <a:lnTo>
                    <a:pt x="16891" y="10258172"/>
                  </a:lnTo>
                  <a:lnTo>
                    <a:pt x="16891" y="10241280"/>
                  </a:lnTo>
                  <a:lnTo>
                    <a:pt x="187579" y="10241280"/>
                  </a:lnTo>
                  <a:lnTo>
                    <a:pt x="187579" y="10258172"/>
                  </a:lnTo>
                  <a:lnTo>
                    <a:pt x="170688" y="10258172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875520" y="2103120"/>
            <a:ext cx="7498080" cy="822960"/>
            <a:chOff x="0" y="0"/>
            <a:chExt cx="999744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9974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Real-World Impact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54263" y="3132839"/>
            <a:ext cx="354587" cy="354587"/>
            <a:chOff x="0" y="0"/>
            <a:chExt cx="472783" cy="4727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515600" y="3017520"/>
            <a:ext cx="6949440" cy="1005840"/>
            <a:chOff x="0" y="0"/>
            <a:chExt cx="9265920" cy="1341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Security tools scanning for "cmd.exe" miss "ᴄᴍᴅ.exe" — same visual, different bytes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954263" y="4449575"/>
            <a:ext cx="354587" cy="354587"/>
            <a:chOff x="0" y="0"/>
            <a:chExt cx="472783" cy="4727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515600" y="4334256"/>
            <a:ext cx="6949440" cy="1005840"/>
            <a:chOff x="0" y="0"/>
            <a:chExt cx="9265920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IDN homograph attacks become more powerful with modifier letter substitutions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954263" y="5766311"/>
            <a:ext cx="354587" cy="354587"/>
            <a:chOff x="0" y="0"/>
            <a:chExt cx="472783" cy="47278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515600" y="5650992"/>
            <a:ext cx="6949440" cy="1005840"/>
            <a:chOff x="0" y="0"/>
            <a:chExt cx="9265920" cy="13411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Affects Windows-based EDR, AV, and SIEM signature matching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954263" y="7083047"/>
            <a:ext cx="354587" cy="354587"/>
            <a:chOff x="0" y="0"/>
            <a:chExt cx="472783" cy="47278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741" y="438912"/>
                    <a:pt x="219456" y="438912"/>
                  </a:cubicBezTo>
                  <a:cubicBezTo>
                    <a:pt x="98171" y="438912"/>
                    <a:pt x="0" y="340741"/>
                    <a:pt x="0" y="219456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72821" cy="472694"/>
            </a:xfrm>
            <a:custGeom>
              <a:avLst/>
              <a:gdLst/>
              <a:ahLst/>
              <a:cxnLst/>
              <a:rect r="r" b="b" t="t" l="l"/>
              <a:pathLst>
                <a:path h="472694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lnTo>
                    <a:pt x="236347" y="16891"/>
                  </a:lnTo>
                  <a:lnTo>
                    <a:pt x="236347" y="0"/>
                  </a:ln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7030" y="472694"/>
                    <a:pt x="236474" y="472694"/>
                  </a:cubicBezTo>
                  <a:lnTo>
                    <a:pt x="236474" y="455803"/>
                  </a:lnTo>
                  <a:lnTo>
                    <a:pt x="236474" y="472694"/>
                  </a:lnTo>
                  <a:cubicBezTo>
                    <a:pt x="105791" y="472821"/>
                    <a:pt x="0" y="366903"/>
                    <a:pt x="0" y="236347"/>
                  </a:cubicBezTo>
                  <a:lnTo>
                    <a:pt x="16891" y="236347"/>
                  </a:lnTo>
                  <a:lnTo>
                    <a:pt x="27813" y="249301"/>
                  </a:lnTo>
                  <a:cubicBezTo>
                    <a:pt x="22733" y="253492"/>
                    <a:pt x="15748" y="254508"/>
                    <a:pt x="9779" y="251714"/>
                  </a:cubicBezTo>
                  <a:cubicBezTo>
                    <a:pt x="3810" y="248920"/>
                    <a:pt x="0" y="242951"/>
                    <a:pt x="0" y="236347"/>
                  </a:cubicBezTo>
                  <a:moveTo>
                    <a:pt x="33909" y="236347"/>
                  </a:moveTo>
                  <a:lnTo>
                    <a:pt x="16891" y="236347"/>
                  </a:lnTo>
                  <a:lnTo>
                    <a:pt x="5969" y="223393"/>
                  </a:lnTo>
                  <a:cubicBezTo>
                    <a:pt x="11049" y="219202"/>
                    <a:pt x="18034" y="218186"/>
                    <a:pt x="24003" y="220980"/>
                  </a:cubicBezTo>
                  <a:cubicBezTo>
                    <a:pt x="29972" y="223774"/>
                    <a:pt x="33782" y="229743"/>
                    <a:pt x="33782" y="236347"/>
                  </a:cubicBezTo>
                  <a:cubicBezTo>
                    <a:pt x="33782" y="348234"/>
                    <a:pt x="124460" y="438912"/>
                    <a:pt x="236347" y="438912"/>
                  </a:cubicBezTo>
                  <a:cubicBezTo>
                    <a:pt x="348234" y="438912"/>
                    <a:pt x="438912" y="348234"/>
                    <a:pt x="438912" y="236347"/>
                  </a:cubicBezTo>
                  <a:lnTo>
                    <a:pt x="455803" y="236347"/>
                  </a:lnTo>
                  <a:lnTo>
                    <a:pt x="438912" y="236347"/>
                  </a:lnTo>
                  <a:cubicBezTo>
                    <a:pt x="438912" y="124460"/>
                    <a:pt x="348234" y="33782"/>
                    <a:pt x="236347" y="33782"/>
                  </a:cubicBezTo>
                  <a:lnTo>
                    <a:pt x="236347" y="16891"/>
                  </a:lnTo>
                  <a:lnTo>
                    <a:pt x="236347" y="33909"/>
                  </a:lnTo>
                  <a:cubicBezTo>
                    <a:pt x="124587" y="33909"/>
                    <a:pt x="33909" y="124587"/>
                    <a:pt x="33909" y="236347"/>
                  </a:cubicBez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515600" y="6967728"/>
            <a:ext cx="6949440" cy="1005840"/>
            <a:chOff x="0" y="0"/>
            <a:chExt cx="9265920" cy="13411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65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265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Paper provides systematic analysis of which characters trigger equivalence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|  Attack Mechanism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8997" y="1986277"/>
            <a:ext cx="3708397" cy="2611117"/>
            <a:chOff x="0" y="0"/>
            <a:chExt cx="4944529" cy="34814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3909" y="339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F87171">
                <a:alpha val="588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44618" cy="3481578"/>
            </a:xfrm>
            <a:custGeom>
              <a:avLst/>
              <a:gdLst/>
              <a:ahLst/>
              <a:cxnLst/>
              <a:rect r="r" b="b" t="t" l="l"/>
              <a:pathLst>
                <a:path h="3481578" w="4944618">
                  <a:moveTo>
                    <a:pt x="33909" y="0"/>
                  </a:moveTo>
                  <a:lnTo>
                    <a:pt x="4910709" y="0"/>
                  </a:lnTo>
                  <a:cubicBezTo>
                    <a:pt x="4929378" y="0"/>
                    <a:pt x="4944618" y="15113"/>
                    <a:pt x="4944618" y="33909"/>
                  </a:cubicBezTo>
                  <a:lnTo>
                    <a:pt x="4944618" y="3447669"/>
                  </a:lnTo>
                  <a:cubicBezTo>
                    <a:pt x="4944618" y="3466338"/>
                    <a:pt x="4929505" y="3481578"/>
                    <a:pt x="491070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4910709" y="3413760"/>
                  </a:lnTo>
                  <a:lnTo>
                    <a:pt x="4910709" y="3447669"/>
                  </a:lnTo>
                  <a:lnTo>
                    <a:pt x="4876800" y="3447669"/>
                  </a:lnTo>
                  <a:lnTo>
                    <a:pt x="4876800" y="33909"/>
                  </a:lnTo>
                  <a:lnTo>
                    <a:pt x="4910709" y="33909"/>
                  </a:lnTo>
                  <a:lnTo>
                    <a:pt x="49107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F8717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103120"/>
            <a:ext cx="3657600" cy="1280160"/>
            <a:chOff x="0" y="0"/>
            <a:chExt cx="48768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768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Attacker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871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Creates File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3328416"/>
            <a:ext cx="3657600" cy="1060704"/>
            <a:chOff x="0" y="0"/>
            <a:chExt cx="4876800" cy="14142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Uses Unicode modifier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letter in filename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35424" y="2926080"/>
            <a:ext cx="731520" cy="731520"/>
            <a:chOff x="0" y="0"/>
            <a:chExt cx="97536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95237" y="1986277"/>
            <a:ext cx="3708397" cy="2611117"/>
            <a:chOff x="0" y="0"/>
            <a:chExt cx="4944529" cy="34814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909" y="339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A78BFA">
                <a:alpha val="5882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44618" cy="3481578"/>
            </a:xfrm>
            <a:custGeom>
              <a:avLst/>
              <a:gdLst/>
              <a:ahLst/>
              <a:cxnLst/>
              <a:rect r="r" b="b" t="t" l="l"/>
              <a:pathLst>
                <a:path h="3481578" w="4944618">
                  <a:moveTo>
                    <a:pt x="33909" y="0"/>
                  </a:moveTo>
                  <a:lnTo>
                    <a:pt x="4910709" y="0"/>
                  </a:lnTo>
                  <a:cubicBezTo>
                    <a:pt x="4929378" y="0"/>
                    <a:pt x="4944618" y="15113"/>
                    <a:pt x="4944618" y="33909"/>
                  </a:cubicBezTo>
                  <a:lnTo>
                    <a:pt x="4944618" y="3447669"/>
                  </a:lnTo>
                  <a:cubicBezTo>
                    <a:pt x="4944618" y="3466338"/>
                    <a:pt x="4929505" y="3481578"/>
                    <a:pt x="491070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4910709" y="3413760"/>
                  </a:lnTo>
                  <a:lnTo>
                    <a:pt x="4910709" y="3447669"/>
                  </a:lnTo>
                  <a:lnTo>
                    <a:pt x="4876800" y="3447669"/>
                  </a:lnTo>
                  <a:lnTo>
                    <a:pt x="4876800" y="33909"/>
                  </a:lnTo>
                  <a:lnTo>
                    <a:pt x="4910709" y="33909"/>
                  </a:lnTo>
                  <a:lnTo>
                    <a:pt x="49107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20640" y="2103120"/>
            <a:ext cx="3657600" cy="1280160"/>
            <a:chOff x="0" y="0"/>
            <a:chExt cx="48768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8768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Windows API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CompareStringW()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20640" y="3328416"/>
            <a:ext cx="3657600" cy="1060704"/>
            <a:chOff x="0" y="0"/>
            <a:chExt cx="4876800" cy="14142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NORM_IGNORENONSPACE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flag treats them equal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41664" y="2926080"/>
            <a:ext cx="731520" cy="731520"/>
            <a:chOff x="0" y="0"/>
            <a:chExt cx="97536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01477" y="1986277"/>
            <a:ext cx="3708397" cy="2611117"/>
            <a:chOff x="0" y="0"/>
            <a:chExt cx="4944529" cy="34814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3909" y="339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38BDF8">
                <a:alpha val="5882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44618" cy="3481578"/>
            </a:xfrm>
            <a:custGeom>
              <a:avLst/>
              <a:gdLst/>
              <a:ahLst/>
              <a:cxnLst/>
              <a:rect r="r" b="b" t="t" l="l"/>
              <a:pathLst>
                <a:path h="3481578" w="4944618">
                  <a:moveTo>
                    <a:pt x="33909" y="0"/>
                  </a:moveTo>
                  <a:lnTo>
                    <a:pt x="4910709" y="0"/>
                  </a:lnTo>
                  <a:cubicBezTo>
                    <a:pt x="4929378" y="0"/>
                    <a:pt x="4944618" y="15113"/>
                    <a:pt x="4944618" y="33909"/>
                  </a:cubicBezTo>
                  <a:lnTo>
                    <a:pt x="4944618" y="3447669"/>
                  </a:lnTo>
                  <a:cubicBezTo>
                    <a:pt x="4944618" y="3466338"/>
                    <a:pt x="4929505" y="3481578"/>
                    <a:pt x="491070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4910709" y="3413760"/>
                  </a:lnTo>
                  <a:lnTo>
                    <a:pt x="4910709" y="3447669"/>
                  </a:lnTo>
                  <a:lnTo>
                    <a:pt x="4876800" y="3447669"/>
                  </a:lnTo>
                  <a:lnTo>
                    <a:pt x="4876800" y="33909"/>
                  </a:lnTo>
                  <a:lnTo>
                    <a:pt x="4910709" y="33909"/>
                  </a:lnTo>
                  <a:lnTo>
                    <a:pt x="49107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326880" y="2103120"/>
            <a:ext cx="3657600" cy="1280160"/>
            <a:chOff x="0" y="0"/>
            <a:chExt cx="4876800" cy="1706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8768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Security Tool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Scans String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26880" y="3328416"/>
            <a:ext cx="3657600" cy="1060704"/>
            <a:chOff x="0" y="0"/>
            <a:chExt cx="4876800" cy="14142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Compares against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known-bad signatures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47904" y="2926080"/>
            <a:ext cx="731520" cy="731520"/>
            <a:chOff x="0" y="0"/>
            <a:chExt cx="97536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97536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507717" y="1986277"/>
            <a:ext cx="3708397" cy="2611117"/>
            <a:chOff x="0" y="0"/>
            <a:chExt cx="4944529" cy="34814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3909" y="33909"/>
              <a:ext cx="4876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4ADE80">
                <a:alpha val="5882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44618" cy="3481578"/>
            </a:xfrm>
            <a:custGeom>
              <a:avLst/>
              <a:gdLst/>
              <a:ahLst/>
              <a:cxnLst/>
              <a:rect r="r" b="b" t="t" l="l"/>
              <a:pathLst>
                <a:path h="3481578" w="4944618">
                  <a:moveTo>
                    <a:pt x="33909" y="0"/>
                  </a:moveTo>
                  <a:lnTo>
                    <a:pt x="4910709" y="0"/>
                  </a:lnTo>
                  <a:cubicBezTo>
                    <a:pt x="4929378" y="0"/>
                    <a:pt x="4944618" y="15113"/>
                    <a:pt x="4944618" y="33909"/>
                  </a:cubicBezTo>
                  <a:lnTo>
                    <a:pt x="4944618" y="3447669"/>
                  </a:lnTo>
                  <a:cubicBezTo>
                    <a:pt x="4944618" y="3466338"/>
                    <a:pt x="4929505" y="3481578"/>
                    <a:pt x="4910709" y="3481578"/>
                  </a:cubicBezTo>
                  <a:lnTo>
                    <a:pt x="33909" y="3481578"/>
                  </a:lnTo>
                  <a:cubicBezTo>
                    <a:pt x="15240" y="3481578"/>
                    <a:pt x="0" y="3466465"/>
                    <a:pt x="0" y="3447669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3447669"/>
                  </a:lnTo>
                  <a:lnTo>
                    <a:pt x="33909" y="3447669"/>
                  </a:lnTo>
                  <a:lnTo>
                    <a:pt x="33909" y="3413760"/>
                  </a:lnTo>
                  <a:lnTo>
                    <a:pt x="4910709" y="3413760"/>
                  </a:lnTo>
                  <a:lnTo>
                    <a:pt x="4910709" y="3447669"/>
                  </a:lnTo>
                  <a:lnTo>
                    <a:pt x="4876800" y="3447669"/>
                  </a:lnTo>
                  <a:lnTo>
                    <a:pt x="4876800" y="33909"/>
                  </a:lnTo>
                  <a:lnTo>
                    <a:pt x="4910709" y="33909"/>
                  </a:lnTo>
                  <a:lnTo>
                    <a:pt x="4910709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533120" y="2103120"/>
            <a:ext cx="3657600" cy="1280160"/>
            <a:chOff x="0" y="0"/>
            <a:chExt cx="4876800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76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87680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BYPASS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Achieved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533120" y="3328416"/>
            <a:ext cx="3657600" cy="1060704"/>
            <a:chOff x="0" y="0"/>
            <a:chExt cx="4876800" cy="14142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76800" cy="1414272"/>
            </a:xfrm>
            <a:custGeom>
              <a:avLst/>
              <a:gdLst/>
              <a:ahLst/>
              <a:cxnLst/>
              <a:rect r="r" b="b" t="t" l="l"/>
              <a:pathLst>
                <a:path h="141427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89" r="0" b="-1718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876800" cy="1452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Modifier char ≠ ASCII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byte match fails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18823" y="5199383"/>
            <a:ext cx="16850363" cy="2311403"/>
            <a:chOff x="0" y="0"/>
            <a:chExt cx="22467151" cy="30818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2433280" cy="3048000"/>
            </a:xfrm>
            <a:custGeom>
              <a:avLst/>
              <a:gdLst/>
              <a:ahLst/>
              <a:cxnLst/>
              <a:rect r="r" b="b" t="t" l="l"/>
              <a:pathLst>
                <a:path h="304800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467063" cy="3081782"/>
            </a:xfrm>
            <a:custGeom>
              <a:avLst/>
              <a:gdLst/>
              <a:ahLst/>
              <a:cxnLst/>
              <a:rect r="r" b="b" t="t" l="l"/>
              <a:pathLst>
                <a:path h="308178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3064891"/>
                  </a:lnTo>
                  <a:cubicBezTo>
                    <a:pt x="22467063" y="3074289"/>
                    <a:pt x="22459443" y="3081782"/>
                    <a:pt x="22450171" y="3081782"/>
                  </a:cubicBezTo>
                  <a:lnTo>
                    <a:pt x="16891" y="3081782"/>
                  </a:lnTo>
                  <a:cubicBezTo>
                    <a:pt x="7493" y="3081782"/>
                    <a:pt x="0" y="3074162"/>
                    <a:pt x="0" y="30648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064891"/>
                  </a:lnTo>
                  <a:lnTo>
                    <a:pt x="16891" y="3064891"/>
                  </a:lnTo>
                  <a:lnTo>
                    <a:pt x="16891" y="3048000"/>
                  </a:lnTo>
                  <a:lnTo>
                    <a:pt x="22450171" y="3048000"/>
                  </a:lnTo>
                  <a:lnTo>
                    <a:pt x="22450171" y="3064891"/>
                  </a:lnTo>
                  <a:lnTo>
                    <a:pt x="22433280" y="306489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88720" y="5394960"/>
            <a:ext cx="2194560" cy="640080"/>
            <a:chOff x="0" y="0"/>
            <a:chExt cx="292608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926080" cy="853440"/>
            </a:xfrm>
            <a:custGeom>
              <a:avLst/>
              <a:gdLst/>
              <a:ahLst/>
              <a:cxnLst/>
              <a:rect r="r" b="b" t="t" l="l"/>
              <a:pathLst>
                <a:path h="85344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9260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38BDF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Example: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8720" y="6035040"/>
            <a:ext cx="15910560" cy="1005840"/>
            <a:chOff x="0" y="0"/>
            <a:chExt cx="2121408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2140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8217" r="0" b="-25821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2121408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4ADE80"/>
                  </a:solidFill>
                  <a:latin typeface="Consolas"/>
                  <a:ea typeface="Consolas"/>
                  <a:cs typeface="Consolas"/>
                  <a:sym typeface="Consolas"/>
                </a:rPr>
                <a:t>"cmd.exe"  vs  "ᴄᴍᴅ.exe"  →  CompareStringW() returns EQUAL  →  Security filter bypassed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7759703"/>
            <a:ext cx="8255003" cy="2037083"/>
            <a:chOff x="0" y="0"/>
            <a:chExt cx="11006671" cy="27161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065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699131"/>
                  </a:lnTo>
                  <a:cubicBezTo>
                    <a:pt x="11006582" y="2708529"/>
                    <a:pt x="10998962" y="2716022"/>
                    <a:pt x="109896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989691" y="2682240"/>
                  </a:lnTo>
                  <a:lnTo>
                    <a:pt x="10989691" y="2699131"/>
                  </a:lnTo>
                  <a:lnTo>
                    <a:pt x="10972800" y="26991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8823" y="7759703"/>
            <a:ext cx="153419" cy="2037083"/>
            <a:chOff x="0" y="0"/>
            <a:chExt cx="204559" cy="27161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97280" y="7863840"/>
            <a:ext cx="7498080" cy="640080"/>
            <a:chOff x="0" y="0"/>
            <a:chExt cx="999744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BDF8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CompareStringW()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97280" y="8503920"/>
            <a:ext cx="7498080" cy="1097280"/>
            <a:chOff x="0" y="0"/>
            <a:chExt cx="9997440" cy="14630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997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API that compares strings. With LCMAP_LOWERCASE or NORM flags, Unicode modifier letters collapse to ASCII equivalents — a known but under-exploited behavior.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97063" y="7759703"/>
            <a:ext cx="8255003" cy="2037083"/>
            <a:chOff x="0" y="0"/>
            <a:chExt cx="11006671" cy="27161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9728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00658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2699131"/>
                  </a:lnTo>
                  <a:cubicBezTo>
                    <a:pt x="11006582" y="2708529"/>
                    <a:pt x="10998962" y="2716022"/>
                    <a:pt x="1098969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989691" y="2682240"/>
                  </a:lnTo>
                  <a:lnTo>
                    <a:pt x="10989691" y="2699131"/>
                  </a:lnTo>
                  <a:lnTo>
                    <a:pt x="10972800" y="269913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97063" y="7759703"/>
            <a:ext cx="153419" cy="2037083"/>
            <a:chOff x="0" y="0"/>
            <a:chExt cx="204559" cy="27161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75520" y="7863840"/>
            <a:ext cx="7498080" cy="640080"/>
            <a:chOff x="0" y="0"/>
            <a:chExt cx="9997440" cy="8534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999744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A78BF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IdnToAscii()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75520" y="8503920"/>
            <a:ext cx="7498080" cy="1097280"/>
            <a:chOff x="0" y="0"/>
            <a:chExt cx="9997440" cy="1463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99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9974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Converts internationalized domain names to ASCII (Punycode). Modifier letters in domain names can survive this conversion, enabling phishing via lookalike domains.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|  Experiments Run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1816103"/>
            <a:ext cx="16850363" cy="2585723"/>
            <a:chOff x="0" y="0"/>
            <a:chExt cx="22467151" cy="34476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2433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467063" cy="3447542"/>
            </a:xfrm>
            <a:custGeom>
              <a:avLst/>
              <a:gdLst/>
              <a:ahLst/>
              <a:cxnLst/>
              <a:rect r="r" b="b" t="t" l="l"/>
              <a:pathLst>
                <a:path h="34475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3430651"/>
                  </a:lnTo>
                  <a:cubicBezTo>
                    <a:pt x="22467063" y="3440049"/>
                    <a:pt x="22459443" y="3447542"/>
                    <a:pt x="224501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22450171" y="3413760"/>
                  </a:lnTo>
                  <a:lnTo>
                    <a:pt x="22450171" y="3430651"/>
                  </a:lnTo>
                  <a:lnTo>
                    <a:pt x="22433280" y="34306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8823" y="1816103"/>
            <a:ext cx="153419" cy="2585723"/>
            <a:chOff x="0" y="0"/>
            <a:chExt cx="204559" cy="34476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88720" y="1975104"/>
            <a:ext cx="10972800" cy="694944"/>
            <a:chOff x="0" y="0"/>
            <a:chExt cx="1463040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658" r="0" b="-25765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630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1: Mode 4 — Character Scan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17703" y="2035559"/>
            <a:ext cx="2677163" cy="574043"/>
            <a:chOff x="0" y="0"/>
            <a:chExt cx="3569551" cy="765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353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3535680">
                  <a:moveTo>
                    <a:pt x="0" y="97536"/>
                  </a:moveTo>
                  <a:cubicBezTo>
                    <a:pt x="0" y="43688"/>
                    <a:pt x="45212" y="0"/>
                    <a:pt x="101092" y="0"/>
                  </a:cubicBezTo>
                  <a:lnTo>
                    <a:pt x="3434588" y="0"/>
                  </a:lnTo>
                  <a:cubicBezTo>
                    <a:pt x="3490468" y="0"/>
                    <a:pt x="3535680" y="43688"/>
                    <a:pt x="3535680" y="97536"/>
                  </a:cubicBezTo>
                  <a:lnTo>
                    <a:pt x="3535680" y="633984"/>
                  </a:lnTo>
                  <a:cubicBezTo>
                    <a:pt x="3535680" y="687832"/>
                    <a:pt x="3490468" y="731520"/>
                    <a:pt x="3434588" y="731520"/>
                  </a:cubicBezTo>
                  <a:lnTo>
                    <a:pt x="101092" y="731520"/>
                  </a:lnTo>
                  <a:cubicBezTo>
                    <a:pt x="45212" y="731520"/>
                    <a:pt x="0" y="687832"/>
                    <a:pt x="0" y="633984"/>
                  </a:cubicBezTo>
                  <a:close/>
                </a:path>
              </a:pathLst>
            </a:custGeom>
            <a:solidFill>
              <a:srgbClr val="4ADE80">
                <a:alpha val="8627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69462" cy="765302"/>
            </a:xfrm>
            <a:custGeom>
              <a:avLst/>
              <a:gdLst/>
              <a:ahLst/>
              <a:cxnLst/>
              <a:rect r="r" b="b" t="t" l="l"/>
              <a:pathLst>
                <a:path h="765302" w="3569462">
                  <a:moveTo>
                    <a:pt x="0" y="114427"/>
                  </a:moveTo>
                  <a:cubicBezTo>
                    <a:pt x="0" y="50673"/>
                    <a:pt x="53467" y="0"/>
                    <a:pt x="117983" y="0"/>
                  </a:cubicBezTo>
                  <a:lnTo>
                    <a:pt x="3451479" y="0"/>
                  </a:lnTo>
                  <a:lnTo>
                    <a:pt x="3451479" y="16891"/>
                  </a:lnTo>
                  <a:lnTo>
                    <a:pt x="3451479" y="0"/>
                  </a:lnTo>
                  <a:cubicBezTo>
                    <a:pt x="3516122" y="0"/>
                    <a:pt x="3569462" y="50673"/>
                    <a:pt x="3569462" y="114427"/>
                  </a:cubicBezTo>
                  <a:lnTo>
                    <a:pt x="3552571" y="114427"/>
                  </a:lnTo>
                  <a:lnTo>
                    <a:pt x="3569462" y="114427"/>
                  </a:lnTo>
                  <a:lnTo>
                    <a:pt x="3569462" y="650875"/>
                  </a:lnTo>
                  <a:lnTo>
                    <a:pt x="3552571" y="650875"/>
                  </a:lnTo>
                  <a:lnTo>
                    <a:pt x="3569462" y="650875"/>
                  </a:lnTo>
                  <a:cubicBezTo>
                    <a:pt x="3569462" y="714629"/>
                    <a:pt x="3515995" y="765302"/>
                    <a:pt x="3451479" y="765302"/>
                  </a:cubicBezTo>
                  <a:lnTo>
                    <a:pt x="3451479" y="748411"/>
                  </a:lnTo>
                  <a:lnTo>
                    <a:pt x="3451479" y="765302"/>
                  </a:lnTo>
                  <a:lnTo>
                    <a:pt x="117983" y="765302"/>
                  </a:lnTo>
                  <a:lnTo>
                    <a:pt x="117983" y="748411"/>
                  </a:lnTo>
                  <a:lnTo>
                    <a:pt x="117983" y="765302"/>
                  </a:lnTo>
                  <a:cubicBezTo>
                    <a:pt x="53467" y="765429"/>
                    <a:pt x="0" y="714756"/>
                    <a:pt x="0" y="65087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650875"/>
                  </a:ln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694817"/>
                    <a:pt x="70993" y="731520"/>
                    <a:pt x="118110" y="731520"/>
                  </a:cubicBezTo>
                  <a:lnTo>
                    <a:pt x="3451479" y="731520"/>
                  </a:lnTo>
                  <a:cubicBezTo>
                    <a:pt x="3498469" y="731520"/>
                    <a:pt x="3535680" y="694817"/>
                    <a:pt x="3535680" y="650875"/>
                  </a:cubicBezTo>
                  <a:lnTo>
                    <a:pt x="3535680" y="114427"/>
                  </a:lnTo>
                  <a:cubicBezTo>
                    <a:pt x="3535680" y="70485"/>
                    <a:pt x="3498596" y="33782"/>
                    <a:pt x="3451479" y="33782"/>
                  </a:cubicBezTo>
                  <a:lnTo>
                    <a:pt x="117983" y="33782"/>
                  </a:lnTo>
                  <a:lnTo>
                    <a:pt x="117983" y="16891"/>
                  </a:lnTo>
                  <a:lnTo>
                    <a:pt x="117983" y="33909"/>
                  </a:lnTo>
                  <a:cubicBezTo>
                    <a:pt x="70993" y="33909"/>
                    <a:pt x="33782" y="70612"/>
                    <a:pt x="33782" y="114554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607540" y="2057400"/>
            <a:ext cx="2651760" cy="548640"/>
            <a:chOff x="0" y="0"/>
            <a:chExt cx="35356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3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53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2834640"/>
            <a:ext cx="8046720" cy="640080"/>
            <a:chOff x="0" y="0"/>
            <a:chExt cx="10728960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Launched analyzer.exe → selected option 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8720" y="3529584"/>
            <a:ext cx="8046720" cy="640080"/>
            <a:chOff x="0" y="0"/>
            <a:chExt cx="1072896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Tool scanned Unicode space for single chars equal to ASCII via CompareStringW()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0" y="2834640"/>
            <a:ext cx="8046720" cy="640080"/>
            <a:chOff x="0" y="0"/>
            <a:chExt cx="1072896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Output written to artifact/Report/TestReport2.txt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0" y="3529584"/>
            <a:ext cx="8046720" cy="640080"/>
            <a:chOff x="0" y="0"/>
            <a:chExt cx="1072896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Report directory located and verified to exist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4650743"/>
            <a:ext cx="16850363" cy="2585723"/>
            <a:chOff x="0" y="0"/>
            <a:chExt cx="22467151" cy="34476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2433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67063" cy="3447542"/>
            </a:xfrm>
            <a:custGeom>
              <a:avLst/>
              <a:gdLst/>
              <a:ahLst/>
              <a:cxnLst/>
              <a:rect r="r" b="b" t="t" l="l"/>
              <a:pathLst>
                <a:path h="34475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3430651"/>
                  </a:lnTo>
                  <a:cubicBezTo>
                    <a:pt x="22467063" y="3440049"/>
                    <a:pt x="22459443" y="3447542"/>
                    <a:pt x="224501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22450171" y="3413760"/>
                  </a:lnTo>
                  <a:lnTo>
                    <a:pt x="22450171" y="3430651"/>
                  </a:lnTo>
                  <a:lnTo>
                    <a:pt x="22433280" y="34306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4650743"/>
            <a:ext cx="153419" cy="2585723"/>
            <a:chOff x="0" y="0"/>
            <a:chExt cx="204559" cy="344763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4809744"/>
            <a:ext cx="10972800" cy="694944"/>
            <a:chOff x="0" y="0"/>
            <a:chExt cx="14630400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658" r="0" b="-2576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4630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2: checker.exe Verification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617703" y="4870199"/>
            <a:ext cx="2677163" cy="574043"/>
            <a:chOff x="0" y="0"/>
            <a:chExt cx="3569551" cy="765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353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3535680">
                  <a:moveTo>
                    <a:pt x="0" y="97536"/>
                  </a:moveTo>
                  <a:cubicBezTo>
                    <a:pt x="0" y="43688"/>
                    <a:pt x="45212" y="0"/>
                    <a:pt x="101092" y="0"/>
                  </a:cubicBezTo>
                  <a:lnTo>
                    <a:pt x="3434588" y="0"/>
                  </a:lnTo>
                  <a:cubicBezTo>
                    <a:pt x="3490468" y="0"/>
                    <a:pt x="3535680" y="43688"/>
                    <a:pt x="3535680" y="97536"/>
                  </a:cubicBezTo>
                  <a:lnTo>
                    <a:pt x="3535680" y="633984"/>
                  </a:lnTo>
                  <a:cubicBezTo>
                    <a:pt x="3535680" y="687832"/>
                    <a:pt x="3490468" y="731520"/>
                    <a:pt x="3434588" y="731520"/>
                  </a:cubicBezTo>
                  <a:lnTo>
                    <a:pt x="101092" y="731520"/>
                  </a:lnTo>
                  <a:cubicBezTo>
                    <a:pt x="45212" y="731520"/>
                    <a:pt x="0" y="687832"/>
                    <a:pt x="0" y="633984"/>
                  </a:cubicBezTo>
                  <a:close/>
                </a:path>
              </a:pathLst>
            </a:custGeom>
            <a:solidFill>
              <a:srgbClr val="4ADE80">
                <a:alpha val="8627"/>
              </a:srgbClr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69462" cy="765302"/>
            </a:xfrm>
            <a:custGeom>
              <a:avLst/>
              <a:gdLst/>
              <a:ahLst/>
              <a:cxnLst/>
              <a:rect r="r" b="b" t="t" l="l"/>
              <a:pathLst>
                <a:path h="765302" w="3569462">
                  <a:moveTo>
                    <a:pt x="0" y="114427"/>
                  </a:moveTo>
                  <a:cubicBezTo>
                    <a:pt x="0" y="50673"/>
                    <a:pt x="53467" y="0"/>
                    <a:pt x="117983" y="0"/>
                  </a:cubicBezTo>
                  <a:lnTo>
                    <a:pt x="3451479" y="0"/>
                  </a:lnTo>
                  <a:lnTo>
                    <a:pt x="3451479" y="16891"/>
                  </a:lnTo>
                  <a:lnTo>
                    <a:pt x="3451479" y="0"/>
                  </a:lnTo>
                  <a:cubicBezTo>
                    <a:pt x="3516122" y="0"/>
                    <a:pt x="3569462" y="50673"/>
                    <a:pt x="3569462" y="114427"/>
                  </a:cubicBezTo>
                  <a:lnTo>
                    <a:pt x="3552571" y="114427"/>
                  </a:lnTo>
                  <a:lnTo>
                    <a:pt x="3569462" y="114427"/>
                  </a:lnTo>
                  <a:lnTo>
                    <a:pt x="3569462" y="650875"/>
                  </a:lnTo>
                  <a:lnTo>
                    <a:pt x="3552571" y="650875"/>
                  </a:lnTo>
                  <a:lnTo>
                    <a:pt x="3569462" y="650875"/>
                  </a:lnTo>
                  <a:cubicBezTo>
                    <a:pt x="3569462" y="714629"/>
                    <a:pt x="3515995" y="765302"/>
                    <a:pt x="3451479" y="765302"/>
                  </a:cubicBezTo>
                  <a:lnTo>
                    <a:pt x="3451479" y="748411"/>
                  </a:lnTo>
                  <a:lnTo>
                    <a:pt x="3451479" y="765302"/>
                  </a:lnTo>
                  <a:lnTo>
                    <a:pt x="117983" y="765302"/>
                  </a:lnTo>
                  <a:lnTo>
                    <a:pt x="117983" y="748411"/>
                  </a:lnTo>
                  <a:lnTo>
                    <a:pt x="117983" y="765302"/>
                  </a:lnTo>
                  <a:cubicBezTo>
                    <a:pt x="53467" y="765429"/>
                    <a:pt x="0" y="714756"/>
                    <a:pt x="0" y="65087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650875"/>
                  </a:ln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694817"/>
                    <a:pt x="70993" y="731520"/>
                    <a:pt x="118110" y="731520"/>
                  </a:cubicBezTo>
                  <a:lnTo>
                    <a:pt x="3451479" y="731520"/>
                  </a:lnTo>
                  <a:cubicBezTo>
                    <a:pt x="3498469" y="731520"/>
                    <a:pt x="3535680" y="694817"/>
                    <a:pt x="3535680" y="650875"/>
                  </a:cubicBezTo>
                  <a:lnTo>
                    <a:pt x="3535680" y="114427"/>
                  </a:lnTo>
                  <a:cubicBezTo>
                    <a:pt x="3535680" y="70485"/>
                    <a:pt x="3498596" y="33782"/>
                    <a:pt x="3451479" y="33782"/>
                  </a:cubicBezTo>
                  <a:lnTo>
                    <a:pt x="117983" y="33782"/>
                  </a:lnTo>
                  <a:lnTo>
                    <a:pt x="117983" y="16891"/>
                  </a:lnTo>
                  <a:lnTo>
                    <a:pt x="117983" y="33909"/>
                  </a:lnTo>
                  <a:cubicBezTo>
                    <a:pt x="70993" y="33909"/>
                    <a:pt x="33782" y="70612"/>
                    <a:pt x="33782" y="114554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630400" y="4882896"/>
            <a:ext cx="2651760" cy="548640"/>
            <a:chOff x="0" y="0"/>
            <a:chExt cx="35356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3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53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88720" y="5669280"/>
            <a:ext cx="8046720" cy="640080"/>
            <a:chOff x="0" y="0"/>
            <a:chExt cx="1072896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Ran checker.exe independently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88720" y="6364224"/>
            <a:ext cx="8046720" cy="640080"/>
            <a:chOff x="0" y="0"/>
            <a:chExt cx="1072896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Confirmed modifier letter ↔ ASCII equivalence on live system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01200" y="5669280"/>
            <a:ext cx="8046720" cy="640080"/>
            <a:chOff x="0" y="0"/>
            <a:chExt cx="1072896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Validated that the attack surface is real on the test machine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01200" y="6364224"/>
            <a:ext cx="8046720" cy="640080"/>
            <a:chOff x="0" y="0"/>
            <a:chExt cx="10728960" cy="8534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Output consistent with paper claims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7485383"/>
            <a:ext cx="16850363" cy="2585723"/>
            <a:chOff x="0" y="0"/>
            <a:chExt cx="22467151" cy="34476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433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467063" cy="3447542"/>
            </a:xfrm>
            <a:custGeom>
              <a:avLst/>
              <a:gdLst/>
              <a:ahLst/>
              <a:cxnLst/>
              <a:rect r="r" b="b" t="t" l="l"/>
              <a:pathLst>
                <a:path h="344754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3430651"/>
                  </a:lnTo>
                  <a:cubicBezTo>
                    <a:pt x="22467063" y="3440049"/>
                    <a:pt x="22459443" y="3447542"/>
                    <a:pt x="22450171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22450171" y="3413760"/>
                  </a:lnTo>
                  <a:lnTo>
                    <a:pt x="22450171" y="3430651"/>
                  </a:lnTo>
                  <a:lnTo>
                    <a:pt x="22433280" y="34306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8823" y="7485383"/>
            <a:ext cx="153419" cy="2585723"/>
            <a:chOff x="0" y="0"/>
            <a:chExt cx="204559" cy="34476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3413760"/>
            </a:xfrm>
            <a:custGeom>
              <a:avLst/>
              <a:gdLst/>
              <a:ahLst/>
              <a:cxnLst/>
              <a:rect r="r" b="b" t="t" l="l"/>
              <a:pathLst>
                <a:path h="341376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3447542"/>
            </a:xfrm>
            <a:custGeom>
              <a:avLst/>
              <a:gdLst/>
              <a:ahLst/>
              <a:cxnLst/>
              <a:rect r="r" b="b" t="t" l="l"/>
              <a:pathLst>
                <a:path h="344754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430651"/>
                  </a:lnTo>
                  <a:cubicBezTo>
                    <a:pt x="204470" y="3440049"/>
                    <a:pt x="196850" y="3447542"/>
                    <a:pt x="187579" y="3447542"/>
                  </a:cubicBezTo>
                  <a:lnTo>
                    <a:pt x="16891" y="3447542"/>
                  </a:lnTo>
                  <a:cubicBezTo>
                    <a:pt x="7493" y="3447542"/>
                    <a:pt x="0" y="3439922"/>
                    <a:pt x="0" y="34306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30651"/>
                  </a:lnTo>
                  <a:lnTo>
                    <a:pt x="16891" y="3430651"/>
                  </a:lnTo>
                  <a:lnTo>
                    <a:pt x="16891" y="3413760"/>
                  </a:lnTo>
                  <a:lnTo>
                    <a:pt x="187579" y="3413760"/>
                  </a:lnTo>
                  <a:lnTo>
                    <a:pt x="187579" y="3430651"/>
                  </a:lnTo>
                  <a:lnTo>
                    <a:pt x="170688" y="343065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88720" y="7644384"/>
            <a:ext cx="10972800" cy="694944"/>
            <a:chOff x="0" y="0"/>
            <a:chExt cx="14630400" cy="9265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63040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658" r="0" b="-25765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4630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3: Output Comparison (fc command)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88720" y="8503920"/>
            <a:ext cx="8046720" cy="640080"/>
            <a:chOff x="0" y="0"/>
            <a:chExt cx="10728960" cy="8534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Attempted: fc "artifact/Report/TestReport2.txt" "claims/.../expected/TestReport2.txt"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88720" y="9198864"/>
            <a:ext cx="8046720" cy="640080"/>
            <a:chOff x="0" y="0"/>
            <a:chExt cx="10728960" cy="8534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Error: PowerShell misinterprets fc as Format-Custom cmdlet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01200" y="8503920"/>
            <a:ext cx="8046720" cy="640080"/>
            <a:chOff x="0" y="0"/>
            <a:chExt cx="1072896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Fix: use cmd.exe instead of PowerShell, or use Compare-Object in PS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01200" y="9198864"/>
            <a:ext cx="8046720" cy="640080"/>
            <a:chOff x="0" y="0"/>
            <a:chExt cx="10728960" cy="8534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728960" cy="853440"/>
            </a:xfrm>
            <a:custGeom>
              <a:avLst/>
              <a:gdLst/>
              <a:ahLst/>
              <a:cxnLst/>
              <a:rect r="r" b="b" t="t" l="l"/>
              <a:pathLst>
                <a:path h="8534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72896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94A3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Manual/structural comparison performed as alternative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643106" y="7777986"/>
            <a:ext cx="2651760" cy="548640"/>
            <a:chOff x="0" y="0"/>
            <a:chExt cx="353568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3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4ADE80">
                <a:alpha val="0"/>
              </a:srgbClr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53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617703" y="7765285"/>
            <a:ext cx="2677163" cy="574043"/>
            <a:chOff x="0" y="0"/>
            <a:chExt cx="3569551" cy="76539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353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3535680">
                  <a:moveTo>
                    <a:pt x="0" y="97536"/>
                  </a:moveTo>
                  <a:cubicBezTo>
                    <a:pt x="0" y="43688"/>
                    <a:pt x="45212" y="0"/>
                    <a:pt x="101092" y="0"/>
                  </a:cubicBezTo>
                  <a:lnTo>
                    <a:pt x="3434588" y="0"/>
                  </a:lnTo>
                  <a:cubicBezTo>
                    <a:pt x="3490468" y="0"/>
                    <a:pt x="3535680" y="43688"/>
                    <a:pt x="3535680" y="97536"/>
                  </a:cubicBezTo>
                  <a:lnTo>
                    <a:pt x="3535680" y="633984"/>
                  </a:lnTo>
                  <a:cubicBezTo>
                    <a:pt x="3535680" y="687832"/>
                    <a:pt x="3490468" y="731520"/>
                    <a:pt x="3434588" y="731520"/>
                  </a:cubicBezTo>
                  <a:lnTo>
                    <a:pt x="101092" y="731520"/>
                  </a:lnTo>
                  <a:cubicBezTo>
                    <a:pt x="45212" y="731520"/>
                    <a:pt x="0" y="687832"/>
                    <a:pt x="0" y="633984"/>
                  </a:cubicBezTo>
                  <a:close/>
                </a:path>
              </a:pathLst>
            </a:custGeom>
            <a:solidFill>
              <a:srgbClr val="4ADE80">
                <a:alpha val="8627"/>
              </a:srgbClr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569462" cy="765302"/>
            </a:xfrm>
            <a:custGeom>
              <a:avLst/>
              <a:gdLst/>
              <a:ahLst/>
              <a:cxnLst/>
              <a:rect r="r" b="b" t="t" l="l"/>
              <a:pathLst>
                <a:path h="765302" w="3569462">
                  <a:moveTo>
                    <a:pt x="0" y="114427"/>
                  </a:moveTo>
                  <a:cubicBezTo>
                    <a:pt x="0" y="50673"/>
                    <a:pt x="53467" y="0"/>
                    <a:pt x="117983" y="0"/>
                  </a:cubicBezTo>
                  <a:lnTo>
                    <a:pt x="3451479" y="0"/>
                  </a:lnTo>
                  <a:lnTo>
                    <a:pt x="3451479" y="16891"/>
                  </a:lnTo>
                  <a:lnTo>
                    <a:pt x="3451479" y="0"/>
                  </a:lnTo>
                  <a:cubicBezTo>
                    <a:pt x="3516122" y="0"/>
                    <a:pt x="3569462" y="50673"/>
                    <a:pt x="3569462" y="114427"/>
                  </a:cubicBezTo>
                  <a:lnTo>
                    <a:pt x="3552571" y="114427"/>
                  </a:lnTo>
                  <a:lnTo>
                    <a:pt x="3569462" y="114427"/>
                  </a:lnTo>
                  <a:lnTo>
                    <a:pt x="3569462" y="650875"/>
                  </a:lnTo>
                  <a:lnTo>
                    <a:pt x="3552571" y="650875"/>
                  </a:lnTo>
                  <a:lnTo>
                    <a:pt x="3569462" y="650875"/>
                  </a:lnTo>
                  <a:cubicBezTo>
                    <a:pt x="3569462" y="714629"/>
                    <a:pt x="3515995" y="765302"/>
                    <a:pt x="3451479" y="765302"/>
                  </a:cubicBezTo>
                  <a:lnTo>
                    <a:pt x="3451479" y="748411"/>
                  </a:lnTo>
                  <a:lnTo>
                    <a:pt x="3451479" y="765302"/>
                  </a:lnTo>
                  <a:lnTo>
                    <a:pt x="117983" y="765302"/>
                  </a:lnTo>
                  <a:lnTo>
                    <a:pt x="117983" y="748411"/>
                  </a:lnTo>
                  <a:lnTo>
                    <a:pt x="117983" y="765302"/>
                  </a:lnTo>
                  <a:cubicBezTo>
                    <a:pt x="53467" y="765429"/>
                    <a:pt x="0" y="714756"/>
                    <a:pt x="0" y="650875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650875"/>
                  </a:ln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694817"/>
                    <a:pt x="70993" y="731520"/>
                    <a:pt x="118110" y="731520"/>
                  </a:cubicBezTo>
                  <a:lnTo>
                    <a:pt x="3451479" y="731520"/>
                  </a:lnTo>
                  <a:cubicBezTo>
                    <a:pt x="3498469" y="731520"/>
                    <a:pt x="3535680" y="694817"/>
                    <a:pt x="3535680" y="650875"/>
                  </a:cubicBezTo>
                  <a:lnTo>
                    <a:pt x="3535680" y="114427"/>
                  </a:lnTo>
                  <a:cubicBezTo>
                    <a:pt x="3535680" y="70485"/>
                    <a:pt x="3498596" y="33782"/>
                    <a:pt x="3451479" y="33782"/>
                  </a:cubicBezTo>
                  <a:lnTo>
                    <a:pt x="117983" y="33782"/>
                  </a:lnTo>
                  <a:lnTo>
                    <a:pt x="117983" y="16891"/>
                  </a:lnTo>
                  <a:lnTo>
                    <a:pt x="117983" y="33909"/>
                  </a:lnTo>
                  <a:cubicBezTo>
                    <a:pt x="70993" y="33909"/>
                    <a:pt x="33782" y="70612"/>
                    <a:pt x="33782" y="114554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|  Verification Results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31520" y="1737360"/>
          <a:ext cx="16789400" cy="5867400"/>
        </p:xfrm>
        <a:graphic>
          <a:graphicData uri="http://schemas.openxmlformats.org/drawingml/2006/table">
            <a:tbl>
              <a:tblPr/>
              <a:tblGrid>
                <a:gridCol w="4378748"/>
                <a:gridCol w="3834554"/>
                <a:gridCol w="5467137"/>
                <a:gridCol w="3108962"/>
              </a:tblGrid>
              <a:tr h="81654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Check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Expected (authors)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Observed (reproduced)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9925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TestReport2.txt generated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 — located in artifact/Report/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925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Modifier letter mappings present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Unicode→ASCII char mappings listed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Mappings visible in generated output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925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Structure matches expected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Section headers, char entries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Consistent format confirmed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0805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Byte-perfect file comparison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fc on both files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Verified using both fc command and SHA256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r>
                        <a:rPr lang="en-US" sz="200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9925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checker.exe confirms attack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Modifier ≡ ASCII via API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F1F5F9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Confirmed live on test system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4ADE8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 PASS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718823" y="8399783"/>
            <a:ext cx="16850363" cy="1579883"/>
            <a:chOff x="0" y="0"/>
            <a:chExt cx="22467151" cy="21065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6891" y="16891"/>
              <a:ext cx="224332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072640"/>
                  </a:lnTo>
                  <a:lnTo>
                    <a:pt x="0" y="2072640"/>
                  </a:lnTo>
                  <a:close/>
                </a:path>
              </a:pathLst>
            </a:custGeom>
            <a:solidFill>
              <a:srgbClr val="4ADE80">
                <a:alpha val="1176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67063" cy="2106422"/>
            </a:xfrm>
            <a:custGeom>
              <a:avLst/>
              <a:gdLst/>
              <a:ahLst/>
              <a:cxnLst/>
              <a:rect r="r" b="b" t="t" l="l"/>
              <a:pathLst>
                <a:path h="210642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089531"/>
                  </a:lnTo>
                  <a:cubicBezTo>
                    <a:pt x="22467063" y="2098929"/>
                    <a:pt x="22459443" y="2106422"/>
                    <a:pt x="22450171" y="2106422"/>
                  </a:cubicBezTo>
                  <a:lnTo>
                    <a:pt x="16891" y="2106422"/>
                  </a:lnTo>
                  <a:cubicBezTo>
                    <a:pt x="7493" y="2106422"/>
                    <a:pt x="0" y="2098802"/>
                    <a:pt x="0" y="20895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089531"/>
                  </a:lnTo>
                  <a:lnTo>
                    <a:pt x="16891" y="2089531"/>
                  </a:lnTo>
                  <a:lnTo>
                    <a:pt x="16891" y="2072640"/>
                  </a:lnTo>
                  <a:lnTo>
                    <a:pt x="22450171" y="2072640"/>
                  </a:lnTo>
                  <a:lnTo>
                    <a:pt x="22450171" y="2089531"/>
                  </a:lnTo>
                  <a:lnTo>
                    <a:pt x="22433280" y="208953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8595360"/>
            <a:ext cx="4023360" cy="731520"/>
            <a:chOff x="0" y="0"/>
            <a:chExt cx="536448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64480" cy="975360"/>
            </a:xfrm>
            <a:custGeom>
              <a:avLst/>
              <a:gdLst/>
              <a:ahLst/>
              <a:cxnLst/>
              <a:rect r="r" b="b" t="t" l="l"/>
              <a:pathLst>
                <a:path h="97536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36448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Academic Conclusion: 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37760" y="8595360"/>
            <a:ext cx="12252960" cy="1188720"/>
            <a:chOff x="0" y="0"/>
            <a:chExt cx="16337280" cy="1584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33728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337280">
                  <a:moveTo>
                    <a:pt x="0" y="0"/>
                  </a:moveTo>
                  <a:lnTo>
                    <a:pt x="16337280" y="0"/>
                  </a:lnTo>
                  <a:lnTo>
                    <a:pt x="1633728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0845" r="0" b="-1508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337280" cy="1632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F1F5F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"The generated report matched the expected artifact output provided by the authors." — Structural match confirmed; claim 2 (character scan) successfully reproduced.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1520" y="10094976"/>
            <a:ext cx="16824960" cy="548640"/>
            <a:chOff x="0" y="0"/>
            <a:chExt cx="224332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541" r="0" b="-5475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433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i="true">
                  <a:solidFill>
                    <a:srgbClr val="94A3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[Image placeholder: side-by-side screenshot of both TestReport2.txt files]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194560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|  Verification Results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13993" y="1579648"/>
            <a:ext cx="5999427" cy="4769490"/>
          </a:xfrm>
          <a:custGeom>
            <a:avLst/>
            <a:gdLst/>
            <a:ahLst/>
            <a:cxnLst/>
            <a:rect r="r" b="b" t="t" l="l"/>
            <a:pathLst>
              <a:path h="4769490" w="5999427">
                <a:moveTo>
                  <a:pt x="0" y="0"/>
                </a:moveTo>
                <a:lnTo>
                  <a:pt x="5999427" y="0"/>
                </a:lnTo>
                <a:lnTo>
                  <a:pt x="5999427" y="4769490"/>
                </a:lnTo>
                <a:lnTo>
                  <a:pt x="0" y="4769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229" r="0" b="-3620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589758" y="1579648"/>
            <a:ext cx="6423518" cy="4769490"/>
          </a:xfrm>
          <a:custGeom>
            <a:avLst/>
            <a:gdLst/>
            <a:ahLst/>
            <a:cxnLst/>
            <a:rect r="r" b="b" t="t" l="l"/>
            <a:pathLst>
              <a:path h="4769490" w="6423518">
                <a:moveTo>
                  <a:pt x="0" y="0"/>
                </a:moveTo>
                <a:lnTo>
                  <a:pt x="6423518" y="0"/>
                </a:lnTo>
                <a:lnTo>
                  <a:pt x="6423518" y="4769490"/>
                </a:lnTo>
                <a:lnTo>
                  <a:pt x="0" y="4769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47" t="-8338" r="-992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13993" y="6890516"/>
            <a:ext cx="5999427" cy="2789223"/>
          </a:xfrm>
          <a:custGeom>
            <a:avLst/>
            <a:gdLst/>
            <a:ahLst/>
            <a:cxnLst/>
            <a:rect r="r" b="b" t="t" l="l"/>
            <a:pathLst>
              <a:path h="2789223" w="5999427">
                <a:moveTo>
                  <a:pt x="0" y="0"/>
                </a:moveTo>
                <a:lnTo>
                  <a:pt x="5999427" y="0"/>
                </a:lnTo>
                <a:lnTo>
                  <a:pt x="5999427" y="2789223"/>
                </a:lnTo>
                <a:lnTo>
                  <a:pt x="0" y="2789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498" t="-12648" r="0" b="-61246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89758" y="6890516"/>
            <a:ext cx="6369087" cy="2789223"/>
          </a:xfrm>
          <a:custGeom>
            <a:avLst/>
            <a:gdLst/>
            <a:ahLst/>
            <a:cxnLst/>
            <a:rect r="r" b="b" t="t" l="l"/>
            <a:pathLst>
              <a:path h="2789223" w="6369087">
                <a:moveTo>
                  <a:pt x="0" y="0"/>
                </a:moveTo>
                <a:lnTo>
                  <a:pt x="6369087" y="0"/>
                </a:lnTo>
                <a:lnTo>
                  <a:pt x="6369087" y="2789223"/>
                </a:lnTo>
                <a:lnTo>
                  <a:pt x="0" y="2789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445" r="0" b="-6218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7035" y="4710838"/>
            <a:ext cx="3176997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Images showing the GUI of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checker.exe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0572" y="5278461"/>
            <a:ext cx="7874011" cy="3046389"/>
          </a:xfrm>
          <a:custGeom>
            <a:avLst/>
            <a:gdLst/>
            <a:ahLst/>
            <a:cxnLst/>
            <a:rect r="r" b="b" t="t" l="l"/>
            <a:pathLst>
              <a:path h="3046389" w="7874011">
                <a:moveTo>
                  <a:pt x="0" y="0"/>
                </a:moveTo>
                <a:lnTo>
                  <a:pt x="7874011" y="0"/>
                </a:lnTo>
                <a:lnTo>
                  <a:pt x="7874011" y="3046389"/>
                </a:lnTo>
                <a:lnTo>
                  <a:pt x="0" y="3046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417" y="5278461"/>
            <a:ext cx="9919998" cy="3046389"/>
          </a:xfrm>
          <a:custGeom>
            <a:avLst/>
            <a:gdLst/>
            <a:ahLst/>
            <a:cxnLst/>
            <a:rect r="r" b="b" t="t" l="l"/>
            <a:pathLst>
              <a:path h="3046389" w="9919998">
                <a:moveTo>
                  <a:pt x="0" y="0"/>
                </a:moveTo>
                <a:lnTo>
                  <a:pt x="9919998" y="0"/>
                </a:lnTo>
                <a:lnTo>
                  <a:pt x="9919998" y="3046389"/>
                </a:lnTo>
                <a:lnTo>
                  <a:pt x="0" y="30463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61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89822" y="768267"/>
            <a:ext cx="9787187" cy="4245192"/>
          </a:xfrm>
          <a:custGeom>
            <a:avLst/>
            <a:gdLst/>
            <a:ahLst/>
            <a:cxnLst/>
            <a:rect r="r" b="b" t="t" l="l"/>
            <a:pathLst>
              <a:path h="4245192" w="9787187">
                <a:moveTo>
                  <a:pt x="0" y="0"/>
                </a:moveTo>
                <a:lnTo>
                  <a:pt x="9787187" y="0"/>
                </a:lnTo>
                <a:lnTo>
                  <a:pt x="9787187" y="4245193"/>
                </a:lnTo>
                <a:lnTo>
                  <a:pt x="0" y="4245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7170" y="2038376"/>
            <a:ext cx="3176997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 showing the output of </a:t>
            </a:r>
            <a:r>
              <a:rPr lang="en-US" b="true" sz="3499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analyzer.exe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861" y="8258175"/>
            <a:ext cx="1657334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Images showing that I executed the official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rtif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ct p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ovid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 by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the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au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ors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and v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rified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ex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ct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r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uction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thr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ou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gh SHA256 hash com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arison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gen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er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ate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expec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or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30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A78BF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78BF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457200"/>
            <a:ext cx="16459200" cy="1188720"/>
            <a:chOff x="0" y="0"/>
            <a:chExt cx="21945600" cy="1584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792" r="0" b="-21979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1945600" cy="1689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b="true">
                  <a:solidFill>
                    <a:srgbClr val="38BDF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 |  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07938" y="1941195"/>
            <a:ext cx="8072123" cy="793499"/>
            <a:chOff x="0" y="0"/>
            <a:chExt cx="10762831" cy="10579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ADE80">
                <a:alpha val="588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62742" cy="1057912"/>
            </a:xfrm>
            <a:custGeom>
              <a:avLst/>
              <a:gdLst/>
              <a:ahLst/>
              <a:cxnLst/>
              <a:rect r="r" b="b" t="t" l="l"/>
              <a:pathLst>
                <a:path h="105791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041019"/>
                  </a:lnTo>
                  <a:cubicBezTo>
                    <a:pt x="10762742" y="1050417"/>
                    <a:pt x="10755122" y="1057910"/>
                    <a:pt x="107458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745851" y="1024128"/>
                  </a:lnTo>
                  <a:lnTo>
                    <a:pt x="10745851" y="1041019"/>
                  </a:lnTo>
                  <a:lnTo>
                    <a:pt x="10728960" y="1041019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35" y="1953892"/>
            <a:ext cx="8046720" cy="768096"/>
            <a:chOff x="0" y="0"/>
            <a:chExt cx="10728960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89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4128" r="0" b="-15412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728960" cy="1081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4ADE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What Was Done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07938" y="2855595"/>
            <a:ext cx="8072123" cy="1122683"/>
            <a:chOff x="0" y="0"/>
            <a:chExt cx="10762831" cy="14969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2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79931"/>
                  </a:lnTo>
                  <a:cubicBezTo>
                    <a:pt x="10762742" y="1489329"/>
                    <a:pt x="10755122" y="1496822"/>
                    <a:pt x="1074585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745851" y="1463040"/>
                  </a:lnTo>
                  <a:lnTo>
                    <a:pt x="10745851" y="1479931"/>
                  </a:lnTo>
                  <a:lnTo>
                    <a:pt x="10728960" y="1479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382258" y="3075051"/>
            <a:ext cx="391163" cy="391163"/>
            <a:chOff x="0" y="0"/>
            <a:chExt cx="521551" cy="521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943595" y="2959732"/>
            <a:ext cx="7040880" cy="1005840"/>
            <a:chOff x="0" y="0"/>
            <a:chExt cx="93878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 up and ran analyzer.exe — confirmed it executes correctly on Windows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07938" y="4099179"/>
            <a:ext cx="8072123" cy="1122683"/>
            <a:chOff x="0" y="0"/>
            <a:chExt cx="10762831" cy="14969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2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79931"/>
                  </a:lnTo>
                  <a:cubicBezTo>
                    <a:pt x="10762742" y="1489329"/>
                    <a:pt x="10755122" y="1496822"/>
                    <a:pt x="1074585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745851" y="1463040"/>
                  </a:lnTo>
                  <a:lnTo>
                    <a:pt x="10745851" y="1479931"/>
                  </a:lnTo>
                  <a:lnTo>
                    <a:pt x="10728960" y="1479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382258" y="4318635"/>
            <a:ext cx="391163" cy="391163"/>
            <a:chOff x="0" y="0"/>
            <a:chExt cx="521551" cy="5215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595" y="4203316"/>
            <a:ext cx="7040880" cy="1005840"/>
            <a:chOff x="0" y="0"/>
            <a:chExt cx="9387840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 4 character scan completed → TestReport2.txt generated successfully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07938" y="5342763"/>
            <a:ext cx="8072123" cy="1122683"/>
            <a:chOff x="0" y="0"/>
            <a:chExt cx="10762831" cy="1496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2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79931"/>
                  </a:lnTo>
                  <a:cubicBezTo>
                    <a:pt x="10762742" y="1489329"/>
                    <a:pt x="10755122" y="1496822"/>
                    <a:pt x="1074585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745851" y="1463040"/>
                  </a:lnTo>
                  <a:lnTo>
                    <a:pt x="10745851" y="1479931"/>
                  </a:lnTo>
                  <a:lnTo>
                    <a:pt x="10728960" y="1479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82258" y="5562219"/>
            <a:ext cx="391163" cy="391163"/>
            <a:chOff x="0" y="0"/>
            <a:chExt cx="521551" cy="521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943595" y="5446900"/>
            <a:ext cx="7040880" cy="1005840"/>
            <a:chOff x="0" y="0"/>
            <a:chExt cx="938784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Located output directory (artifact/Report/) and verified file existence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07938" y="6586347"/>
            <a:ext cx="8072123" cy="1122683"/>
            <a:chOff x="0" y="0"/>
            <a:chExt cx="10762831" cy="1496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62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79931"/>
                  </a:lnTo>
                  <a:cubicBezTo>
                    <a:pt x="10762742" y="1489329"/>
                    <a:pt x="10755122" y="1496822"/>
                    <a:pt x="1074585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745851" y="1463040"/>
                  </a:lnTo>
                  <a:lnTo>
                    <a:pt x="10745851" y="1479931"/>
                  </a:lnTo>
                  <a:lnTo>
                    <a:pt x="10728960" y="1479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382258" y="6805803"/>
            <a:ext cx="391163" cy="391163"/>
            <a:chOff x="0" y="0"/>
            <a:chExt cx="521551" cy="5215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943595" y="6690484"/>
            <a:ext cx="7040880" cy="1005840"/>
            <a:chOff x="0" y="0"/>
            <a:chExt cx="938784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 checker.exe independently — live confirmation of Unicode ↔ ASCII equivalence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107938" y="7829931"/>
            <a:ext cx="8072123" cy="1122683"/>
            <a:chOff x="0" y="0"/>
            <a:chExt cx="10762831" cy="14969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728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293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62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479931"/>
                  </a:lnTo>
                  <a:cubicBezTo>
                    <a:pt x="10762742" y="1489329"/>
                    <a:pt x="10755122" y="1496822"/>
                    <a:pt x="10745851" y="1496822"/>
                  </a:cubicBezTo>
                  <a:lnTo>
                    <a:pt x="16891" y="1496822"/>
                  </a:lnTo>
                  <a:cubicBezTo>
                    <a:pt x="7493" y="1496822"/>
                    <a:pt x="0" y="1489202"/>
                    <a:pt x="0" y="14799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479931"/>
                  </a:lnTo>
                  <a:lnTo>
                    <a:pt x="16891" y="1479931"/>
                  </a:lnTo>
                  <a:lnTo>
                    <a:pt x="16891" y="1463040"/>
                  </a:lnTo>
                  <a:lnTo>
                    <a:pt x="10745851" y="1463040"/>
                  </a:lnTo>
                  <a:lnTo>
                    <a:pt x="10745851" y="1479931"/>
                  </a:lnTo>
                  <a:lnTo>
                    <a:pt x="10728960" y="14799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293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5382258" y="8049387"/>
            <a:ext cx="391163" cy="391163"/>
            <a:chOff x="0" y="0"/>
            <a:chExt cx="521551" cy="5215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4ADE8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943595" y="7934068"/>
            <a:ext cx="7040880" cy="1005840"/>
            <a:chOff x="0" y="0"/>
            <a:chExt cx="9387840" cy="1341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38784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1F5F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Structural comparison with expected report: format, sections, and mappings match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-12697" y="10100567"/>
            <a:ext cx="18313403" cy="199139"/>
            <a:chOff x="0" y="0"/>
            <a:chExt cx="24417871" cy="26551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4383999" cy="231648"/>
            </a:xfrm>
            <a:custGeom>
              <a:avLst/>
              <a:gdLst/>
              <a:ahLst/>
              <a:cxnLst/>
              <a:rect r="r" b="b" t="t" l="l"/>
              <a:pathLst>
                <a:path h="231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31648"/>
                  </a:lnTo>
                  <a:lnTo>
                    <a:pt x="0" y="231648"/>
                  </a:ln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417782" cy="265432"/>
            </a:xfrm>
            <a:custGeom>
              <a:avLst/>
              <a:gdLst/>
              <a:ahLst/>
              <a:cxnLst/>
              <a:rect r="r" b="b" t="t" l="l"/>
              <a:pathLst>
                <a:path h="26543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48539"/>
                  </a:lnTo>
                  <a:cubicBezTo>
                    <a:pt x="24417782" y="257937"/>
                    <a:pt x="24410163" y="265430"/>
                    <a:pt x="24400890" y="265430"/>
                  </a:cubicBezTo>
                  <a:lnTo>
                    <a:pt x="16891" y="265430"/>
                  </a:lnTo>
                  <a:cubicBezTo>
                    <a:pt x="7620" y="265557"/>
                    <a:pt x="0" y="257937"/>
                    <a:pt x="0" y="248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8539"/>
                  </a:lnTo>
                  <a:lnTo>
                    <a:pt x="16891" y="248539"/>
                  </a:lnTo>
                  <a:lnTo>
                    <a:pt x="16891" y="231648"/>
                  </a:lnTo>
                  <a:lnTo>
                    <a:pt x="24400890" y="231648"/>
                  </a:lnTo>
                  <a:lnTo>
                    <a:pt x="24400890" y="248539"/>
                  </a:lnTo>
                  <a:lnTo>
                    <a:pt x="24384000" y="248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DAHI_ouS8kQ</dc:identifier>
  <dcterms:modified xsi:type="dcterms:W3CDTF">2011-08-01T06:04:30Z</dcterms:modified>
  <cp:revision>1</cp:revision>
  <dc:title>Fooling Machine’s Eyes: Unicode Modifier Letter Evasion Attack</dc:title>
</cp:coreProperties>
</file>